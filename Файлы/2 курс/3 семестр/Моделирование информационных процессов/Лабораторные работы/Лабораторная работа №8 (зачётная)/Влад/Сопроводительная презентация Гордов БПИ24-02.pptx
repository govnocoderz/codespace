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9092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477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42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200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965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605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8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1410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FC6CDED3-FBE3-4206-8574-66570325DB2A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046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078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8654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3677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9669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8222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7153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17623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DED3-FBE3-4206-8574-66570325DB2A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419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C6CDED3-FBE3-4206-8574-66570325DB2A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DBECE3D-AF06-416B-9EEC-9CBF9C445A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6078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Зачётная работа на тему «моделирование бизнес-процессов»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582195" y="4957355"/>
            <a:ext cx="4845040" cy="1905000"/>
          </a:xfrm>
        </p:spPr>
        <p:txBody>
          <a:bodyPr/>
          <a:lstStyle/>
          <a:p>
            <a:pPr algn="r"/>
            <a:r>
              <a:rPr lang="ru-RU" dirty="0" smtClean="0"/>
              <a:t>Презентацию подготовил:</a:t>
            </a:r>
          </a:p>
          <a:p>
            <a:pPr algn="r"/>
            <a:r>
              <a:rPr lang="ru-RU" dirty="0" smtClean="0"/>
              <a:t>Гордов В., студент группы БПИ24-02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717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1. </a:t>
            </a:r>
            <a:r>
              <a:rPr lang="en-US" sz="3600" dirty="0" smtClean="0"/>
              <a:t>UML: </a:t>
            </a:r>
            <a:r>
              <a:rPr lang="ru-RU" sz="3600" dirty="0" smtClean="0"/>
              <a:t>определение и назначение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b="1" i="1" dirty="0" err="1">
                <a:effectLst/>
              </a:rPr>
              <a:t>Unified</a:t>
            </a:r>
            <a:r>
              <a:rPr lang="ru-RU" sz="2800" b="1" i="1" dirty="0">
                <a:effectLst/>
              </a:rPr>
              <a:t> </a:t>
            </a:r>
            <a:r>
              <a:rPr lang="ru-RU" sz="2800" b="1" i="1" dirty="0" err="1">
                <a:effectLst/>
              </a:rPr>
              <a:t>Modeling</a:t>
            </a:r>
            <a:r>
              <a:rPr lang="ru-RU" sz="2800" b="1" i="1" dirty="0">
                <a:effectLst/>
              </a:rPr>
              <a:t> </a:t>
            </a:r>
            <a:r>
              <a:rPr lang="ru-RU" sz="2800" b="1" i="1" dirty="0" err="1">
                <a:effectLst/>
              </a:rPr>
              <a:t>Language</a:t>
            </a:r>
            <a:r>
              <a:rPr lang="ru-RU" sz="2800" b="1" dirty="0">
                <a:effectLst/>
              </a:rPr>
              <a:t> (UML)</a:t>
            </a:r>
            <a:r>
              <a:rPr lang="ru-RU" sz="2800" dirty="0">
                <a:effectLst/>
              </a:rPr>
              <a:t> — это стандартизированный язык графического описания для визуального моделирования программных и информационных систем</a:t>
            </a:r>
            <a:r>
              <a:rPr lang="ru-RU" sz="2800" dirty="0" smtClean="0">
                <a:effectLst/>
              </a:rPr>
              <a:t>.</a:t>
            </a:r>
          </a:p>
          <a:p>
            <a:r>
              <a:rPr lang="ru-RU" sz="2800" b="1" dirty="0">
                <a:effectLst/>
              </a:rPr>
              <a:t>Основная цель</a:t>
            </a:r>
            <a:r>
              <a:rPr lang="ru-RU" sz="2800" dirty="0">
                <a:effectLst/>
              </a:rPr>
              <a:t>: преодолеть разрыв между бизнес-требованиями и реализацией в коде</a:t>
            </a:r>
            <a:r>
              <a:rPr lang="ru-RU" sz="2800" dirty="0" smtClean="0">
                <a:effectLst/>
              </a:rPr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6137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1. </a:t>
            </a:r>
            <a:r>
              <a:rPr lang="en-US" sz="3600" dirty="0" smtClean="0"/>
              <a:t>UML: </a:t>
            </a:r>
            <a:r>
              <a:rPr lang="ru-RU" sz="3600" dirty="0" smtClean="0"/>
              <a:t>Ключевые функции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800" b="1" dirty="0">
                <a:effectLst/>
              </a:rPr>
              <a:t>Визуализация</a:t>
            </a:r>
            <a:r>
              <a:rPr lang="ru-RU" sz="2800" dirty="0">
                <a:effectLst/>
              </a:rPr>
              <a:t> — графическое представление структуры и поведения.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b="1" dirty="0">
                <a:effectLst/>
              </a:rPr>
              <a:t>Спецификация</a:t>
            </a:r>
            <a:r>
              <a:rPr lang="ru-RU" sz="2800" dirty="0">
                <a:effectLst/>
              </a:rPr>
              <a:t> — точное, недвусмысленное описание требований.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b="1" dirty="0">
                <a:effectLst/>
              </a:rPr>
              <a:t>Конструирование</a:t>
            </a:r>
            <a:r>
              <a:rPr lang="ru-RU" sz="2800" dirty="0">
                <a:effectLst/>
              </a:rPr>
              <a:t> — генерация каркасов кода и симуляция.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b="1" dirty="0">
                <a:effectLst/>
              </a:rPr>
              <a:t>Документирование</a:t>
            </a:r>
            <a:r>
              <a:rPr lang="ru-RU" sz="2800" dirty="0">
                <a:effectLst/>
              </a:rPr>
              <a:t> — поддержка знаний на всех этапах ЖЦ.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9737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1. </a:t>
            </a:r>
            <a:r>
              <a:rPr lang="en-US" sz="3600" dirty="0" smtClean="0"/>
              <a:t>UML: </a:t>
            </a:r>
            <a:r>
              <a:rPr lang="ru-RU" sz="3600" dirty="0" smtClean="0"/>
              <a:t>визуализация</a:t>
            </a:r>
            <a:endParaRPr lang="ru-RU" sz="3600" dirty="0"/>
          </a:p>
        </p:txBody>
      </p:sp>
      <p:pic>
        <p:nvPicPr>
          <p:cNvPr id="4" name="Рисунок 3" descr="НОУ ИНТУИТ | Введение в UML. Лекция 7: Диаграммы прецедентов: крупным планом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3" y="2600234"/>
            <a:ext cx="3089366" cy="245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122215" y="2221411"/>
            <a:ext cx="3274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Диаграмма прецедентов</a:t>
            </a:r>
            <a:endParaRPr lang="ru-RU" dirty="0"/>
          </a:p>
        </p:txBody>
      </p:sp>
      <p:pic>
        <p:nvPicPr>
          <p:cNvPr id="6" name="Рисунок 5" descr="UML-диаграммы классов : сущности, связи, интерфейсы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6286" y="1254760"/>
            <a:ext cx="3082381" cy="25196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8926286" y="897096"/>
            <a:ext cx="3082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Диаграмма классов</a:t>
            </a:r>
            <a:endParaRPr lang="ru-RU" dirty="0"/>
          </a:p>
        </p:txBody>
      </p:sp>
      <p:pic>
        <p:nvPicPr>
          <p:cNvPr id="8" name="Рисунок 7" descr="Диаграмма последовательности (Sequence diagram) | Flexberry PLATFORM  Documentation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316" y="4198926"/>
            <a:ext cx="4855889" cy="251968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7240315" y="3829594"/>
            <a:ext cx="4855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Диаграмма последовательностей</a:t>
            </a:r>
            <a:endParaRPr lang="ru-RU" dirty="0"/>
          </a:p>
        </p:txBody>
      </p:sp>
      <p:pic>
        <p:nvPicPr>
          <p:cNvPr id="10" name="Рисунок 9" descr="ЛАБОРАТОРНАЯ РАБОТА 7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798" y="2600234"/>
            <a:ext cx="3334078" cy="402922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3591458" y="2227943"/>
            <a:ext cx="3382418" cy="372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Диаграмма деятельности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5801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1. </a:t>
            </a:r>
            <a:r>
              <a:rPr lang="en-US" sz="3600" dirty="0" smtClean="0"/>
              <a:t>UML: </a:t>
            </a:r>
            <a:r>
              <a:rPr lang="ru-RU" sz="3600" dirty="0" smtClean="0"/>
              <a:t>спецификация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Это точное и строгое определение элементов системы</a:t>
            </a:r>
          </a:p>
          <a:p>
            <a:r>
              <a:rPr lang="ru-RU" sz="2800" dirty="0" smtClean="0"/>
              <a:t>Формализация поведения системы позволяет использовать её как инструмент для других задач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550929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2. </a:t>
            </a:r>
            <a:r>
              <a:rPr lang="en-US" sz="3600" dirty="0" smtClean="0"/>
              <a:t>ARIS: </a:t>
            </a:r>
            <a:r>
              <a:rPr lang="ru-RU" sz="3600" dirty="0" smtClean="0"/>
              <a:t>общая характеристика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effectLst/>
              </a:rPr>
              <a:t>ARIS</a:t>
            </a:r>
            <a:r>
              <a:rPr lang="en-US" sz="2800" dirty="0">
                <a:effectLst/>
              </a:rPr>
              <a:t> (Architecture of Integrated Information Systems</a:t>
            </a:r>
            <a:r>
              <a:rPr lang="en-US" sz="2800" dirty="0" smtClean="0">
                <a:effectLst/>
              </a:rPr>
              <a:t>)</a:t>
            </a:r>
            <a:r>
              <a:rPr lang="ru-RU" sz="2800" dirty="0" smtClean="0">
                <a:effectLst/>
              </a:rPr>
              <a:t> — «архитектура интегрированных информационных систем».</a:t>
            </a:r>
            <a:r>
              <a:rPr lang="en-US" sz="2800" dirty="0" smtClean="0">
                <a:effectLst/>
              </a:rPr>
              <a:t> </a:t>
            </a:r>
            <a:r>
              <a:rPr lang="ru-RU" sz="2800" dirty="0" smtClean="0">
                <a:effectLst/>
              </a:rPr>
              <a:t>Среда для моделирования </a:t>
            </a:r>
            <a:r>
              <a:rPr lang="ru-RU" sz="2800" dirty="0" err="1" smtClean="0">
                <a:effectLst/>
              </a:rPr>
              <a:t>бизнец</a:t>
            </a:r>
            <a:r>
              <a:rPr lang="ru-RU" sz="2800" dirty="0" smtClean="0">
                <a:effectLst/>
              </a:rPr>
              <a:t>-процессов.</a:t>
            </a:r>
          </a:p>
          <a:p>
            <a:r>
              <a:rPr lang="ru-RU" sz="2800" dirty="0" smtClean="0">
                <a:effectLst/>
              </a:rPr>
              <a:t>Представляет собой целостную и многоаспектную модель организации.</a:t>
            </a:r>
          </a:p>
          <a:p>
            <a:r>
              <a:rPr lang="ru-RU" sz="2800" dirty="0" smtClean="0">
                <a:effectLst/>
              </a:rPr>
              <a:t>Пользуется спросом как в </a:t>
            </a:r>
            <a:r>
              <a:rPr lang="en-US" sz="2800" dirty="0" smtClean="0">
                <a:effectLst/>
              </a:rPr>
              <a:t>IT</a:t>
            </a:r>
            <a:r>
              <a:rPr lang="ru-RU" sz="2800" dirty="0" smtClean="0">
                <a:effectLst/>
              </a:rPr>
              <a:t>, так и в организациях другой направленности.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799349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2. </a:t>
            </a:r>
            <a:r>
              <a:rPr lang="en-US" sz="3600" dirty="0" smtClean="0"/>
              <a:t>ARIS: </a:t>
            </a:r>
            <a:r>
              <a:rPr lang="ru-RU" sz="3600" dirty="0" smtClean="0"/>
              <a:t>основные аспекты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3200" b="1" dirty="0">
                <a:effectLst/>
              </a:rPr>
              <a:t>Функциональный</a:t>
            </a:r>
            <a:r>
              <a:rPr lang="ru-RU" sz="3200" dirty="0">
                <a:effectLst/>
              </a:rPr>
              <a:t> — что делает организация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b="1" dirty="0">
                <a:effectLst/>
              </a:rPr>
              <a:t>Информационный</a:t>
            </a:r>
            <a:r>
              <a:rPr lang="ru-RU" sz="3200" dirty="0">
                <a:effectLst/>
              </a:rPr>
              <a:t> — какие данные использует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b="1" dirty="0">
                <a:effectLst/>
              </a:rPr>
              <a:t>Организационный</a:t>
            </a:r>
            <a:r>
              <a:rPr lang="ru-RU" sz="3200" dirty="0">
                <a:effectLst/>
              </a:rPr>
              <a:t> — кто участвует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b="1" dirty="0">
                <a:effectLst/>
              </a:rPr>
              <a:t>Управляющий</a:t>
            </a:r>
            <a:r>
              <a:rPr lang="ru-RU" sz="3200" dirty="0">
                <a:effectLst/>
              </a:rPr>
              <a:t> — как управляется процесс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b="1" dirty="0">
                <a:effectLst/>
              </a:rPr>
              <a:t>Ресурсный</a:t>
            </a:r>
            <a:r>
              <a:rPr lang="ru-RU" sz="3200" dirty="0">
                <a:effectLst/>
              </a:rPr>
              <a:t> — какие ИТ-системы задействованы</a:t>
            </a:r>
          </a:p>
        </p:txBody>
      </p:sp>
    </p:spTree>
    <p:extLst>
      <p:ext uri="{BB962C8B-B14F-4D97-AF65-F5344CB8AC3E}">
        <p14:creationId xmlns:p14="http://schemas.microsoft.com/office/powerpoint/2010/main" val="1477604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2. </a:t>
            </a:r>
            <a:r>
              <a:rPr lang="en-US" sz="3600" dirty="0" smtClean="0"/>
              <a:t>ARIS: </a:t>
            </a:r>
            <a:r>
              <a:rPr lang="en-US" sz="3600" dirty="0" err="1" smtClean="0"/>
              <a:t>eEpc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3" y="1846217"/>
            <a:ext cx="4850084" cy="4781006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/>
              </a:rPr>
              <a:t>EEPC</a:t>
            </a:r>
            <a:r>
              <a:rPr lang="ru-RU" sz="2800" b="1" dirty="0" smtClean="0">
                <a:effectLst/>
              </a:rPr>
              <a:t> </a:t>
            </a:r>
            <a:r>
              <a:rPr lang="ru-RU" sz="2800" b="1" dirty="0">
                <a:effectLst/>
              </a:rPr>
              <a:t>(</a:t>
            </a:r>
            <a:r>
              <a:rPr lang="en-US" sz="2800" b="1" dirty="0">
                <a:effectLst/>
              </a:rPr>
              <a:t>extended Event</a:t>
            </a:r>
            <a:r>
              <a:rPr lang="ru-RU" sz="2800" b="1" dirty="0">
                <a:effectLst/>
              </a:rPr>
              <a:t>-</a:t>
            </a:r>
            <a:r>
              <a:rPr lang="en-US" sz="2800" b="1" dirty="0">
                <a:effectLst/>
              </a:rPr>
              <a:t>driven Process Chain</a:t>
            </a:r>
            <a:r>
              <a:rPr lang="ru-RU" sz="2800" b="1" dirty="0">
                <a:effectLst/>
              </a:rPr>
              <a:t>) — </a:t>
            </a:r>
            <a:r>
              <a:rPr lang="ru-RU" sz="2800" dirty="0">
                <a:effectLst/>
              </a:rPr>
              <a:t>основная </a:t>
            </a:r>
            <a:r>
              <a:rPr lang="ru-RU" sz="2800" dirty="0" smtClean="0">
                <a:effectLst/>
              </a:rPr>
              <a:t>диаграмма для моделирования.</a:t>
            </a:r>
          </a:p>
          <a:p>
            <a:r>
              <a:rPr lang="ru-RU" sz="2800" dirty="0" smtClean="0">
                <a:effectLst/>
              </a:rPr>
              <a:t>Подразделяется на события, функции и логические операторы.</a:t>
            </a:r>
            <a:endParaRPr lang="ru-RU" sz="2800" dirty="0">
              <a:effectLst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886" y="374470"/>
            <a:ext cx="4841965" cy="613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161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2. </a:t>
            </a:r>
            <a:r>
              <a:rPr lang="en-US" sz="3600" dirty="0" smtClean="0"/>
              <a:t>ARIS: </a:t>
            </a:r>
            <a:r>
              <a:rPr lang="ru-RU" sz="3600" dirty="0" smtClean="0"/>
              <a:t>ЭТАПЫ моделирования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ru-RU" sz="2400" b="1" dirty="0">
                <a:effectLst/>
              </a:rPr>
              <a:t>Определение границ и целей моделирования</a:t>
            </a:r>
            <a:r>
              <a:rPr lang="ru-RU" sz="2400" dirty="0">
                <a:effectLst/>
              </a:rPr>
              <a:t> </a:t>
            </a:r>
            <a:endParaRPr lang="ru-RU" sz="2400" dirty="0" smtClean="0">
              <a:effectLst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ru-RU" sz="2400" b="1" dirty="0" smtClean="0">
                <a:effectLst/>
              </a:rPr>
              <a:t>Сбор информации</a:t>
            </a:r>
            <a:endParaRPr lang="ru-RU" sz="2400" dirty="0">
              <a:effectLst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ru-RU" sz="2400" b="1" dirty="0">
                <a:effectLst/>
              </a:rPr>
              <a:t>Построение моделей по </a:t>
            </a:r>
            <a:r>
              <a:rPr lang="ru-RU" sz="2400" b="1" dirty="0" smtClean="0">
                <a:effectLst/>
              </a:rPr>
              <a:t>аспектам</a:t>
            </a:r>
            <a:endParaRPr lang="ru-RU" sz="2400" dirty="0">
              <a:effectLst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ru-RU" sz="2400" b="1" dirty="0">
                <a:effectLst/>
              </a:rPr>
              <a:t>Интеграция </a:t>
            </a:r>
            <a:r>
              <a:rPr lang="ru-RU" sz="2400" b="1" dirty="0" smtClean="0">
                <a:effectLst/>
              </a:rPr>
              <a:t>моделей</a:t>
            </a:r>
            <a:endParaRPr lang="ru-RU" sz="2400" dirty="0">
              <a:effectLst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ru-RU" sz="2400" b="1" dirty="0">
                <a:effectLst/>
              </a:rPr>
              <a:t>Анализ и </a:t>
            </a:r>
            <a:r>
              <a:rPr lang="ru-RU" sz="2400" b="1" dirty="0" smtClean="0">
                <a:effectLst/>
              </a:rPr>
              <a:t>оптимизация</a:t>
            </a:r>
            <a:endParaRPr lang="ru-RU" sz="2400" dirty="0">
              <a:effectLst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ru-RU" sz="2400" b="1" dirty="0">
                <a:effectLst/>
              </a:rPr>
              <a:t>Симуляция и </a:t>
            </a:r>
            <a:r>
              <a:rPr lang="ru-RU" sz="2400" b="1" dirty="0" err="1" smtClean="0">
                <a:effectLst/>
              </a:rPr>
              <a:t>валидация</a:t>
            </a:r>
            <a:endParaRPr lang="ru-RU" sz="2400" dirty="0" smtClean="0">
              <a:effectLst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400" b="1" dirty="0" smtClean="0">
                <a:effectLst/>
              </a:rPr>
              <a:t>Внедрение изменений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94390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3. Методики моделирования: определение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3200" b="1" dirty="0" smtClean="0">
                <a:effectLst/>
              </a:rPr>
              <a:t>Моделирование бизнес-процесса </a:t>
            </a:r>
            <a:r>
              <a:rPr lang="ru-RU" sz="3200" dirty="0" smtClean="0">
                <a:effectLst/>
              </a:rPr>
              <a:t>—</a:t>
            </a:r>
            <a:r>
              <a:rPr lang="ru-RU" sz="3200" b="1" dirty="0" smtClean="0">
                <a:effectLst/>
              </a:rPr>
              <a:t> </a:t>
            </a:r>
            <a:r>
              <a:rPr lang="ru-RU" sz="3200" dirty="0" smtClean="0">
                <a:effectLst/>
              </a:rPr>
              <a:t>это описание действия организации с целью анализа и улучшения.</a:t>
            </a:r>
          </a:p>
          <a:p>
            <a:r>
              <a:rPr lang="ru-RU" sz="3200" b="1" dirty="0" smtClean="0">
                <a:effectLst/>
              </a:rPr>
              <a:t>Основные компоненты: </a:t>
            </a:r>
            <a:r>
              <a:rPr lang="ru-RU" sz="3200" dirty="0" smtClean="0">
                <a:effectLst/>
              </a:rPr>
              <a:t>цель; объект; методика; правила построения; инструментарий.</a:t>
            </a:r>
          </a:p>
        </p:txBody>
      </p:sp>
    </p:spTree>
    <p:extLst>
      <p:ext uri="{BB962C8B-B14F-4D97-AF65-F5344CB8AC3E}">
        <p14:creationId xmlns:p14="http://schemas.microsoft.com/office/powerpoint/2010/main" val="2448118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3. Методики моделирования: обзор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effectLst/>
              </a:rPr>
              <a:t>IDEF</a:t>
            </a:r>
            <a:r>
              <a:rPr lang="ru-RU" sz="3200" dirty="0">
                <a:effectLst/>
              </a:rPr>
              <a:t> — для строгого функционального </a:t>
            </a:r>
            <a:r>
              <a:rPr lang="ru-RU" sz="3200" dirty="0" smtClean="0">
                <a:effectLst/>
              </a:rPr>
              <a:t>описания</a:t>
            </a:r>
          </a:p>
          <a:p>
            <a:r>
              <a:rPr lang="ru-RU" sz="3200" b="1" dirty="0">
                <a:effectLst/>
              </a:rPr>
              <a:t>DFD</a:t>
            </a:r>
            <a:r>
              <a:rPr lang="ru-RU" sz="3200" dirty="0">
                <a:effectLst/>
              </a:rPr>
              <a:t> — для потоков </a:t>
            </a:r>
            <a:r>
              <a:rPr lang="ru-RU" sz="3200" dirty="0" smtClean="0">
                <a:effectLst/>
              </a:rPr>
              <a:t>данных</a:t>
            </a:r>
          </a:p>
          <a:p>
            <a:r>
              <a:rPr lang="ru-RU" sz="3200" b="1" dirty="0">
                <a:effectLst/>
              </a:rPr>
              <a:t>BPMN</a:t>
            </a:r>
            <a:r>
              <a:rPr lang="ru-RU" sz="3200" dirty="0">
                <a:effectLst/>
              </a:rPr>
              <a:t> — для исполнимых </a:t>
            </a:r>
            <a:r>
              <a:rPr lang="ru-RU" sz="3200" dirty="0" smtClean="0">
                <a:effectLst/>
              </a:rPr>
              <a:t>процессов</a:t>
            </a:r>
          </a:p>
          <a:p>
            <a:r>
              <a:rPr lang="ru-RU" sz="3200" b="1" dirty="0">
                <a:effectLst/>
              </a:rPr>
              <a:t>ARIS</a:t>
            </a:r>
            <a:r>
              <a:rPr lang="ru-RU" sz="3200" dirty="0">
                <a:effectLst/>
              </a:rPr>
              <a:t> — для комплексного </a:t>
            </a:r>
            <a:r>
              <a:rPr lang="ru-RU" sz="3200" dirty="0" smtClean="0">
                <a:effectLst/>
              </a:rPr>
              <a:t>анализа</a:t>
            </a:r>
            <a:endParaRPr lang="ru-RU" sz="3200" b="1" dirty="0" smtClean="0">
              <a:effectLst/>
            </a:endParaRPr>
          </a:p>
          <a:p>
            <a:r>
              <a:rPr lang="ru-RU" sz="3200" b="1" dirty="0" smtClean="0">
                <a:effectLst/>
              </a:rPr>
              <a:t>UML</a:t>
            </a:r>
            <a:r>
              <a:rPr lang="ru-RU" sz="3200" dirty="0" smtClean="0">
                <a:effectLst/>
              </a:rPr>
              <a:t> </a:t>
            </a:r>
            <a:r>
              <a:rPr lang="ru-RU" sz="3200" dirty="0">
                <a:effectLst/>
              </a:rPr>
              <a:t>— для разработки </a:t>
            </a:r>
            <a:r>
              <a:rPr lang="ru-RU" sz="3200" dirty="0" smtClean="0">
                <a:effectLst/>
              </a:rPr>
              <a:t>ПО</a:t>
            </a:r>
            <a:endParaRPr lang="ru-RU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83289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3. Методики моделирования: семейство </a:t>
            </a:r>
            <a:r>
              <a:rPr lang="en-US" sz="3600" dirty="0" smtClean="0"/>
              <a:t>idef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3200" b="1" dirty="0" smtClean="0">
                <a:effectLst/>
              </a:rPr>
              <a:t>Цель IDEF</a:t>
            </a:r>
            <a:r>
              <a:rPr lang="ru-RU" sz="3200" dirty="0" smtClean="0">
                <a:effectLst/>
              </a:rPr>
              <a:t> </a:t>
            </a:r>
            <a:r>
              <a:rPr lang="ru-RU" sz="3200" dirty="0">
                <a:effectLst/>
              </a:rPr>
              <a:t>— обеспечить </a:t>
            </a:r>
            <a:r>
              <a:rPr lang="ru-RU" sz="3200" dirty="0" smtClean="0">
                <a:effectLst/>
              </a:rPr>
              <a:t>единый </a:t>
            </a:r>
            <a:r>
              <a:rPr lang="ru-RU" sz="3200" dirty="0">
                <a:effectLst/>
              </a:rPr>
              <a:t>способ представления </a:t>
            </a:r>
            <a:r>
              <a:rPr lang="ru-RU" sz="3200" dirty="0" smtClean="0">
                <a:effectLst/>
              </a:rPr>
              <a:t>функций</a:t>
            </a:r>
            <a:endParaRPr lang="ru-RU" sz="3200" dirty="0">
              <a:effectLst/>
            </a:endParaRPr>
          </a:p>
          <a:p>
            <a:pPr lvl="0"/>
            <a:r>
              <a:rPr lang="ru-RU" sz="3200" b="1" dirty="0">
                <a:effectLst/>
              </a:rPr>
              <a:t>IDEF0</a:t>
            </a:r>
            <a:r>
              <a:rPr lang="ru-RU" sz="3200" dirty="0">
                <a:effectLst/>
              </a:rPr>
              <a:t> — функциональное </a:t>
            </a:r>
            <a:r>
              <a:rPr lang="ru-RU" sz="3200" dirty="0" smtClean="0">
                <a:effectLst/>
              </a:rPr>
              <a:t>моделирование</a:t>
            </a:r>
            <a:endParaRPr lang="ru-RU" sz="3200" dirty="0">
              <a:effectLst/>
            </a:endParaRPr>
          </a:p>
          <a:p>
            <a:pPr lvl="0"/>
            <a:r>
              <a:rPr lang="ru-RU" sz="3200" b="1" dirty="0">
                <a:effectLst/>
              </a:rPr>
              <a:t>IDEF3</a:t>
            </a:r>
            <a:r>
              <a:rPr lang="ru-RU" sz="3200" dirty="0">
                <a:effectLst/>
              </a:rPr>
              <a:t> — моделирование </a:t>
            </a:r>
            <a:r>
              <a:rPr lang="ru-RU" sz="3200" dirty="0" smtClean="0">
                <a:effectLst/>
              </a:rPr>
              <a:t>алгоритмов</a:t>
            </a:r>
            <a:endParaRPr lang="ru-RU" sz="3200" dirty="0">
              <a:effectLst/>
            </a:endParaRPr>
          </a:p>
          <a:p>
            <a:pPr lvl="0"/>
            <a:r>
              <a:rPr lang="ru-RU" sz="3200" b="1" dirty="0">
                <a:effectLst/>
              </a:rPr>
              <a:t>IDEF1X</a:t>
            </a:r>
            <a:r>
              <a:rPr lang="ru-RU" sz="3200" dirty="0">
                <a:effectLst/>
              </a:rPr>
              <a:t> — логическое моделирование данных</a:t>
            </a:r>
            <a:r>
              <a:rPr lang="ru-RU" sz="3200" dirty="0" smtClean="0">
                <a:effectLst/>
              </a:rPr>
              <a:t>.</a:t>
            </a:r>
            <a:endParaRPr lang="ru-RU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65910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3. Методики моделирования: </a:t>
            </a:r>
            <a:r>
              <a:rPr lang="en-US" sz="3600" dirty="0" smtClean="0"/>
              <a:t>IDEF0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800" dirty="0" smtClean="0">
                <a:effectLst/>
              </a:rPr>
              <a:t>Вопрос: «Что делает система?»</a:t>
            </a:r>
            <a:endParaRPr lang="ru-RU" sz="2800" dirty="0">
              <a:effectLst/>
            </a:endParaRPr>
          </a:p>
          <a:p>
            <a:r>
              <a:rPr lang="ru-RU" sz="2800" dirty="0">
                <a:effectLst/>
              </a:rPr>
              <a:t>Четыре типа стрелок:</a:t>
            </a:r>
          </a:p>
          <a:p>
            <a:pPr lvl="1"/>
            <a:r>
              <a:rPr lang="ru-RU" sz="2400" dirty="0" smtClean="0">
                <a:effectLst/>
              </a:rPr>
              <a:t>вход</a:t>
            </a:r>
            <a:endParaRPr lang="ru-RU" sz="2400" dirty="0">
              <a:effectLst/>
            </a:endParaRPr>
          </a:p>
          <a:p>
            <a:pPr lvl="1"/>
            <a:r>
              <a:rPr lang="ru-RU" sz="2400" dirty="0" smtClean="0">
                <a:effectLst/>
              </a:rPr>
              <a:t>управление</a:t>
            </a:r>
            <a:endParaRPr lang="ru-RU" sz="2400" dirty="0">
              <a:effectLst/>
            </a:endParaRPr>
          </a:p>
          <a:p>
            <a:pPr lvl="1"/>
            <a:r>
              <a:rPr lang="ru-RU" sz="2400" dirty="0" smtClean="0">
                <a:effectLst/>
              </a:rPr>
              <a:t>механизм</a:t>
            </a:r>
            <a:endParaRPr lang="ru-RU" sz="2400" dirty="0">
              <a:effectLst/>
            </a:endParaRPr>
          </a:p>
          <a:p>
            <a:pPr lvl="1"/>
            <a:r>
              <a:rPr lang="ru-RU" sz="2400" dirty="0" smtClean="0">
                <a:effectLst/>
              </a:rPr>
              <a:t>выход</a:t>
            </a:r>
            <a:endParaRPr lang="ru-RU" sz="2400" dirty="0">
              <a:effectLst/>
            </a:endParaRPr>
          </a:p>
          <a:p>
            <a:r>
              <a:rPr lang="ru-RU" sz="2800" dirty="0">
                <a:effectLst/>
              </a:rPr>
              <a:t>Иерархическая декомпозиция → от общего к </a:t>
            </a:r>
            <a:r>
              <a:rPr lang="ru-RU" sz="2800" dirty="0" smtClean="0">
                <a:effectLst/>
              </a:rPr>
              <a:t>деталям</a:t>
            </a:r>
            <a:endParaRPr lang="ru-RU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9398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3. Методики моделирования: </a:t>
            </a:r>
            <a:r>
              <a:rPr lang="en-US" sz="3600" dirty="0" smtClean="0"/>
              <a:t>IDEF</a:t>
            </a:r>
            <a:r>
              <a:rPr lang="ru-RU" sz="3600" dirty="0" smtClean="0"/>
              <a:t>3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400" dirty="0" smtClean="0">
                <a:effectLst/>
              </a:rPr>
              <a:t>Вопрос: «Как выполняется процесс?»</a:t>
            </a:r>
            <a:endParaRPr lang="ru-RU" sz="2400" dirty="0">
              <a:effectLst/>
            </a:endParaRPr>
          </a:p>
          <a:p>
            <a:r>
              <a:rPr lang="ru-RU" sz="2400" dirty="0">
                <a:effectLst/>
              </a:rPr>
              <a:t>Описывает реальные сценарии:</a:t>
            </a:r>
          </a:p>
          <a:p>
            <a:pPr lvl="1"/>
            <a:r>
              <a:rPr lang="ru-RU" sz="2400" dirty="0">
                <a:effectLst/>
              </a:rPr>
              <a:t>Единицы работы </a:t>
            </a:r>
            <a:endParaRPr lang="ru-RU" sz="2400" dirty="0" smtClean="0">
              <a:effectLst/>
            </a:endParaRPr>
          </a:p>
          <a:p>
            <a:pPr lvl="1"/>
            <a:r>
              <a:rPr lang="ru-RU" sz="2400" dirty="0" smtClean="0">
                <a:effectLst/>
              </a:rPr>
              <a:t>Последовательности </a:t>
            </a:r>
            <a:r>
              <a:rPr lang="ru-RU" sz="2400" dirty="0">
                <a:effectLst/>
              </a:rPr>
              <a:t>и ветвления</a:t>
            </a:r>
          </a:p>
          <a:p>
            <a:pPr lvl="1"/>
            <a:r>
              <a:rPr lang="ru-RU" sz="2400" dirty="0">
                <a:effectLst/>
              </a:rPr>
              <a:t>Синхронизация </a:t>
            </a:r>
            <a:r>
              <a:rPr lang="ru-RU" sz="2400" dirty="0" smtClean="0">
                <a:effectLst/>
              </a:rPr>
              <a:t>(«И») и </a:t>
            </a:r>
            <a:r>
              <a:rPr lang="ru-RU" sz="2400" dirty="0">
                <a:effectLst/>
              </a:rPr>
              <a:t>альтернативы («ИЛИ»)</a:t>
            </a:r>
          </a:p>
          <a:p>
            <a:r>
              <a:rPr lang="ru-RU" sz="2400" dirty="0" smtClean="0">
                <a:effectLst/>
              </a:rPr>
              <a:t>анализ </a:t>
            </a:r>
            <a:r>
              <a:rPr lang="ru-RU" sz="2400" dirty="0">
                <a:effectLst/>
              </a:rPr>
              <a:t>исключений и ручных </a:t>
            </a:r>
            <a:r>
              <a:rPr lang="ru-RU" sz="2400" dirty="0" smtClean="0">
                <a:effectLst/>
              </a:rPr>
              <a:t>операций</a:t>
            </a:r>
            <a:endParaRPr lang="ru-RU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087262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етка">
  <a:themeElements>
    <a:clrScheme name="Сетка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5AD0B8"/>
      </a:accent1>
      <a:accent2>
        <a:srgbClr val="47BB7E"/>
      </a:accent2>
      <a:accent3>
        <a:srgbClr val="96CD4B"/>
      </a:accent3>
      <a:accent4>
        <a:srgbClr val="61C7DD"/>
      </a:accent4>
      <a:accent5>
        <a:srgbClr val="2495CF"/>
      </a:accent5>
      <a:accent6>
        <a:srgbClr val="5A74D1"/>
      </a:accent6>
      <a:hlink>
        <a:srgbClr val="72CEBB"/>
      </a:hlink>
      <a:folHlink>
        <a:srgbClr val="98E6D6"/>
      </a:folHlink>
    </a:clrScheme>
    <a:fontScheme name="Сетка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етк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0F262FD6-3409-4039-A531-64BD4D2F99E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TM03457485[[fn=Сетка]]</Template>
  <TotalTime>74</TotalTime>
  <Words>423</Words>
  <Application>Microsoft Office PowerPoint</Application>
  <PresentationFormat>Широкоэкранный</PresentationFormat>
  <Paragraphs>69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Century Gothic</vt:lpstr>
      <vt:lpstr>Сетка</vt:lpstr>
      <vt:lpstr>Зачётная работа на тему «моделирование бизнес-процессов»</vt:lpstr>
      <vt:lpstr>1. UML: определение и назначение</vt:lpstr>
      <vt:lpstr>1. UML: Ключевые функции</vt:lpstr>
      <vt:lpstr>1. UML: визуализация</vt:lpstr>
      <vt:lpstr>1. UML: спецификация</vt:lpstr>
      <vt:lpstr>2. ARIS: общая характеристика</vt:lpstr>
      <vt:lpstr>2. ARIS: основные аспекты</vt:lpstr>
      <vt:lpstr>2. ARIS: eEpc</vt:lpstr>
      <vt:lpstr>2. ARIS: ЭТАПЫ моделирования</vt:lpstr>
      <vt:lpstr>3. Методики моделирования: определение</vt:lpstr>
      <vt:lpstr>3. Методики моделирования: обзор</vt:lpstr>
      <vt:lpstr>3. Методики моделирования: семейство idef</vt:lpstr>
      <vt:lpstr>3. Методики моделирования: IDEF0</vt:lpstr>
      <vt:lpstr>3. Методики моделирования: IDEF3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Зачётная работа на тему «моделирование бизнес-процессов»</dc:title>
  <dc:creator>Учетная запись Майкрософт</dc:creator>
  <cp:lastModifiedBy>Учетная запись Майкрософт</cp:lastModifiedBy>
  <cp:revision>7</cp:revision>
  <dcterms:created xsi:type="dcterms:W3CDTF">2025-12-15T14:49:46Z</dcterms:created>
  <dcterms:modified xsi:type="dcterms:W3CDTF">2025-12-15T16:04:45Z</dcterms:modified>
</cp:coreProperties>
</file>
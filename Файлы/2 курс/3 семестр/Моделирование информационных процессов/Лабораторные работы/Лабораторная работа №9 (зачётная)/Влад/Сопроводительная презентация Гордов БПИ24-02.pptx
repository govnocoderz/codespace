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9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47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4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0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96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05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41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04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7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65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367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966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222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153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762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41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C6CDED3-FBE3-4206-8574-66570325DB2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607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Зачётная работа на тему «моделирование бизнес-процессов»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82195" y="4957355"/>
            <a:ext cx="4845040" cy="1905000"/>
          </a:xfrm>
        </p:spPr>
        <p:txBody>
          <a:bodyPr/>
          <a:lstStyle/>
          <a:p>
            <a:pPr algn="r"/>
            <a:r>
              <a:rPr lang="ru-RU" dirty="0" smtClean="0"/>
              <a:t>Презентацию подготовил:</a:t>
            </a:r>
          </a:p>
          <a:p>
            <a:pPr algn="r"/>
            <a:r>
              <a:rPr lang="ru-RU" dirty="0" smtClean="0"/>
              <a:t>Гордов В., студент группы БПИ24-02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71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определение и назначение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i="1" dirty="0" err="1">
                <a:effectLst/>
              </a:rPr>
              <a:t>Unified</a:t>
            </a:r>
            <a:r>
              <a:rPr lang="ru-RU" sz="2800" b="1" i="1" dirty="0">
                <a:effectLst/>
              </a:rPr>
              <a:t> </a:t>
            </a:r>
            <a:r>
              <a:rPr lang="ru-RU" sz="2800" b="1" i="1" dirty="0" err="1">
                <a:effectLst/>
              </a:rPr>
              <a:t>Modeling</a:t>
            </a:r>
            <a:r>
              <a:rPr lang="ru-RU" sz="2800" b="1" i="1" dirty="0">
                <a:effectLst/>
              </a:rPr>
              <a:t> </a:t>
            </a:r>
            <a:r>
              <a:rPr lang="ru-RU" sz="2800" b="1" i="1" dirty="0" err="1">
                <a:effectLst/>
              </a:rPr>
              <a:t>Language</a:t>
            </a:r>
            <a:r>
              <a:rPr lang="ru-RU" sz="2800" b="1" dirty="0">
                <a:effectLst/>
              </a:rPr>
              <a:t> (UML)</a:t>
            </a:r>
            <a:r>
              <a:rPr lang="ru-RU" sz="2800" dirty="0">
                <a:effectLst/>
              </a:rPr>
              <a:t> — это стандартизированный язык графического описания для визуального моделирования программных и информационных систем</a:t>
            </a:r>
            <a:r>
              <a:rPr lang="ru-RU" sz="2800" dirty="0" smtClean="0">
                <a:effectLst/>
              </a:rPr>
              <a:t>.</a:t>
            </a:r>
          </a:p>
          <a:p>
            <a:r>
              <a:rPr lang="ru-RU" sz="2800" b="1" dirty="0">
                <a:effectLst/>
              </a:rPr>
              <a:t>Основная цель</a:t>
            </a:r>
            <a:r>
              <a:rPr lang="ru-RU" sz="2800" dirty="0">
                <a:effectLst/>
              </a:rPr>
              <a:t>: преодолеть разрыв между бизнес-требованиями и реализацией в коде</a:t>
            </a:r>
            <a:r>
              <a:rPr lang="ru-RU" sz="2800" dirty="0" smtClean="0">
                <a:effectLst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13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Ключевые функции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Визуализация</a:t>
            </a:r>
            <a:r>
              <a:rPr lang="ru-RU" sz="2800" dirty="0">
                <a:effectLst/>
              </a:rPr>
              <a:t> — графическое представление структуры и поведения.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Спецификация</a:t>
            </a:r>
            <a:r>
              <a:rPr lang="ru-RU" sz="2800" dirty="0">
                <a:effectLst/>
              </a:rPr>
              <a:t> — точное, недвусмысленное описание требований.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Конструирование</a:t>
            </a:r>
            <a:r>
              <a:rPr lang="ru-RU" sz="2800" dirty="0">
                <a:effectLst/>
              </a:rPr>
              <a:t> — генерация каркасов кода и симуляция.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Документирование</a:t>
            </a:r>
            <a:r>
              <a:rPr lang="ru-RU" sz="2800" dirty="0">
                <a:effectLst/>
              </a:rPr>
              <a:t> — поддержка знаний на всех этапах ЖЦ.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973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визуализация</a:t>
            </a:r>
            <a:endParaRPr lang="ru-RU" sz="3600" dirty="0"/>
          </a:p>
        </p:txBody>
      </p:sp>
      <p:pic>
        <p:nvPicPr>
          <p:cNvPr id="4" name="Рисунок 3" descr="НОУ ИНТУИТ | Введение в UML. Лекция 7: Диаграммы прецедентов: крупным планом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3" y="2600234"/>
            <a:ext cx="3089366" cy="245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22215" y="2221411"/>
            <a:ext cx="327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прецедентов</a:t>
            </a:r>
            <a:endParaRPr lang="ru-RU" dirty="0"/>
          </a:p>
        </p:txBody>
      </p:sp>
      <p:pic>
        <p:nvPicPr>
          <p:cNvPr id="6" name="Рисунок 5" descr="UML-диаграммы классов : сущности, связи, интерфейсы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6" y="1254760"/>
            <a:ext cx="3082381" cy="25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926286" y="897096"/>
            <a:ext cx="308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классов</a:t>
            </a:r>
            <a:endParaRPr lang="ru-RU" dirty="0"/>
          </a:p>
        </p:txBody>
      </p:sp>
      <p:pic>
        <p:nvPicPr>
          <p:cNvPr id="8" name="Рисунок 7" descr="Диаграмма последовательности (Sequence diagram) | Flexberry PLATFORM  Documentation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316" y="4198926"/>
            <a:ext cx="4855889" cy="25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7240315" y="3829594"/>
            <a:ext cx="485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последовательностей</a:t>
            </a:r>
            <a:endParaRPr lang="ru-RU" dirty="0"/>
          </a:p>
        </p:txBody>
      </p:sp>
      <p:pic>
        <p:nvPicPr>
          <p:cNvPr id="10" name="Рисунок 9" descr="ЛАБОРАТОРНАЯ РАБОТА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98" y="2600234"/>
            <a:ext cx="3334078" cy="40292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591458" y="2227943"/>
            <a:ext cx="3382418" cy="372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деятельности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580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спецификация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Это точное и строгое определение элементов системы</a:t>
            </a:r>
          </a:p>
          <a:p>
            <a:r>
              <a:rPr lang="ru-RU" sz="3600" dirty="0" smtClean="0"/>
              <a:t>Формализация поведения системы позволяет использовать её как инструмент для других задач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55092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конструирование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Это процесс построение диаграммы на основе её описания</a:t>
            </a:r>
          </a:p>
          <a:p>
            <a:r>
              <a:rPr lang="en-US" sz="2800" dirty="0" smtClean="0"/>
              <a:t>UML </a:t>
            </a:r>
            <a:r>
              <a:rPr lang="ru-RU" sz="2800" dirty="0" smtClean="0"/>
              <a:t>здесь — мост между проектированием и реализацией. Он позволяет:</a:t>
            </a:r>
          </a:p>
          <a:p>
            <a:pPr lvl="1"/>
            <a:r>
              <a:rPr lang="ru-RU" sz="2800" dirty="0" smtClean="0"/>
              <a:t>Преобразовывать диаграммы в заготовки кода на разных языках</a:t>
            </a:r>
          </a:p>
          <a:p>
            <a:pPr lvl="1"/>
            <a:r>
              <a:rPr lang="ru-RU" sz="2800" dirty="0" smtClean="0"/>
              <a:t>Генерировать каркасные структуры</a:t>
            </a:r>
          </a:p>
          <a:p>
            <a:pPr lvl="1"/>
            <a:r>
              <a:rPr lang="ru-RU" sz="2800" dirty="0" smtClean="0"/>
              <a:t>Проводить симуляции поведение систем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4124790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документирование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Сопроводительная документация нужна для ознакомления новым разработчикам, аудита, поддержки проекта. </a:t>
            </a:r>
            <a:r>
              <a:rPr lang="ru-RU" sz="2800" dirty="0" smtClean="0"/>
              <a:t>Особенности:</a:t>
            </a:r>
          </a:p>
          <a:p>
            <a:pPr lvl="1"/>
            <a:r>
              <a:rPr lang="ru-RU" sz="2600" dirty="0" smtClean="0"/>
              <a:t>Поддерживает актуальность</a:t>
            </a:r>
          </a:p>
          <a:p>
            <a:pPr lvl="1"/>
            <a:r>
              <a:rPr lang="ru-RU" sz="2600" dirty="0" smtClean="0"/>
              <a:t>Доступна широкому ряду участников проекта</a:t>
            </a:r>
          </a:p>
          <a:p>
            <a:pPr lvl="1"/>
            <a:r>
              <a:rPr lang="ru-RU" sz="2600" dirty="0" smtClean="0"/>
              <a:t>Позволяет восстановить логику проекта</a:t>
            </a:r>
          </a:p>
          <a:p>
            <a:pPr lvl="1"/>
            <a:endParaRPr lang="ru-RU" sz="2600" dirty="0" smtClean="0"/>
          </a:p>
        </p:txBody>
      </p:sp>
    </p:spTree>
    <p:extLst>
      <p:ext uri="{BB962C8B-B14F-4D97-AF65-F5344CB8AC3E}">
        <p14:creationId xmlns:p14="http://schemas.microsoft.com/office/powerpoint/2010/main" val="302616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ru-RU" sz="3600" dirty="0" smtClean="0"/>
              <a:t>общая характеристика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effectLst/>
              </a:rPr>
              <a:t>ARIS</a:t>
            </a:r>
            <a:r>
              <a:rPr lang="en-US" sz="2800" dirty="0">
                <a:effectLst/>
              </a:rPr>
              <a:t> (Architecture of Integrated Information Systems</a:t>
            </a:r>
            <a:r>
              <a:rPr lang="en-US" sz="2800" dirty="0" smtClean="0">
                <a:effectLst/>
              </a:rPr>
              <a:t>)</a:t>
            </a:r>
            <a:r>
              <a:rPr lang="ru-RU" sz="2800" dirty="0" smtClean="0">
                <a:effectLst/>
              </a:rPr>
              <a:t> — «архитектура интегрированных информационных систем».</a:t>
            </a:r>
            <a:r>
              <a:rPr lang="en-US" sz="2800" dirty="0" smtClean="0">
                <a:effectLst/>
              </a:rPr>
              <a:t> </a:t>
            </a:r>
            <a:r>
              <a:rPr lang="ru-RU" sz="2800" dirty="0" smtClean="0">
                <a:effectLst/>
              </a:rPr>
              <a:t>Среда для моделирования </a:t>
            </a:r>
            <a:r>
              <a:rPr lang="ru-RU" sz="2800" dirty="0" err="1" smtClean="0">
                <a:effectLst/>
              </a:rPr>
              <a:t>бизнец</a:t>
            </a:r>
            <a:r>
              <a:rPr lang="ru-RU" sz="2800" dirty="0" smtClean="0">
                <a:effectLst/>
              </a:rPr>
              <a:t>-процессов.</a:t>
            </a:r>
          </a:p>
          <a:p>
            <a:r>
              <a:rPr lang="ru-RU" sz="2800" dirty="0" smtClean="0">
                <a:effectLst/>
              </a:rPr>
              <a:t>Представляет собой целостную и многоаспектную модель организации.</a:t>
            </a:r>
          </a:p>
          <a:p>
            <a:r>
              <a:rPr lang="ru-RU" sz="2800" dirty="0" smtClean="0">
                <a:effectLst/>
              </a:rPr>
              <a:t>Пользуется спросом как в </a:t>
            </a:r>
            <a:r>
              <a:rPr lang="en-US" sz="2800" dirty="0" smtClean="0">
                <a:effectLst/>
              </a:rPr>
              <a:t>IT</a:t>
            </a:r>
            <a:r>
              <a:rPr lang="ru-RU" sz="2800" dirty="0" smtClean="0">
                <a:effectLst/>
              </a:rPr>
              <a:t>, так и в организациях другой направленности.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9934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ru-RU" sz="3600" dirty="0" smtClean="0"/>
              <a:t>основные аспекты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Функциональный</a:t>
            </a:r>
            <a:r>
              <a:rPr lang="ru-RU" sz="3200" dirty="0">
                <a:effectLst/>
              </a:rPr>
              <a:t> — что делает организация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Информационный</a:t>
            </a:r>
            <a:r>
              <a:rPr lang="ru-RU" sz="3200" dirty="0">
                <a:effectLst/>
              </a:rPr>
              <a:t> — какие данные использует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Организационный</a:t>
            </a:r>
            <a:r>
              <a:rPr lang="ru-RU" sz="3200" dirty="0">
                <a:effectLst/>
              </a:rPr>
              <a:t> — кто участвует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Управляющий</a:t>
            </a:r>
            <a:r>
              <a:rPr lang="ru-RU" sz="3200" dirty="0">
                <a:effectLst/>
              </a:rPr>
              <a:t> — как управляется процесс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Ресурсный</a:t>
            </a:r>
            <a:r>
              <a:rPr lang="ru-RU" sz="3200" dirty="0">
                <a:effectLst/>
              </a:rPr>
              <a:t> — какие ИТ-системы задействованы</a:t>
            </a:r>
          </a:p>
        </p:txBody>
      </p:sp>
    </p:spTree>
    <p:extLst>
      <p:ext uri="{BB962C8B-B14F-4D97-AF65-F5344CB8AC3E}">
        <p14:creationId xmlns:p14="http://schemas.microsoft.com/office/powerpoint/2010/main" val="1477604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en-US" sz="3600" dirty="0" err="1" smtClean="0"/>
              <a:t>eEpc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846217"/>
            <a:ext cx="4850084" cy="478100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/>
              </a:rPr>
              <a:t>EEPC</a:t>
            </a:r>
            <a:r>
              <a:rPr lang="ru-RU" sz="2800" b="1" dirty="0" smtClean="0">
                <a:effectLst/>
              </a:rPr>
              <a:t> </a:t>
            </a:r>
            <a:r>
              <a:rPr lang="ru-RU" sz="2800" b="1" dirty="0">
                <a:effectLst/>
              </a:rPr>
              <a:t>(</a:t>
            </a:r>
            <a:r>
              <a:rPr lang="en-US" sz="2800" b="1" dirty="0">
                <a:effectLst/>
              </a:rPr>
              <a:t>extended Event</a:t>
            </a:r>
            <a:r>
              <a:rPr lang="ru-RU" sz="2800" b="1" dirty="0">
                <a:effectLst/>
              </a:rPr>
              <a:t>-</a:t>
            </a:r>
            <a:r>
              <a:rPr lang="en-US" sz="2800" b="1" dirty="0">
                <a:effectLst/>
              </a:rPr>
              <a:t>driven Process Chain</a:t>
            </a:r>
            <a:r>
              <a:rPr lang="ru-RU" sz="2800" b="1" dirty="0">
                <a:effectLst/>
              </a:rPr>
              <a:t>) — </a:t>
            </a:r>
            <a:r>
              <a:rPr lang="ru-RU" sz="2800" dirty="0">
                <a:effectLst/>
              </a:rPr>
              <a:t>основная </a:t>
            </a:r>
            <a:r>
              <a:rPr lang="ru-RU" sz="2800" dirty="0" smtClean="0">
                <a:effectLst/>
              </a:rPr>
              <a:t>диаграмма для моделирования.</a:t>
            </a:r>
          </a:p>
          <a:p>
            <a:r>
              <a:rPr lang="ru-RU" sz="2800" dirty="0" smtClean="0">
                <a:effectLst/>
              </a:rPr>
              <a:t>Подразделяется на события, функции и логические операторы.</a:t>
            </a:r>
            <a:endParaRPr lang="ru-RU" sz="2800" dirty="0">
              <a:effectLst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374470"/>
            <a:ext cx="4841965" cy="613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6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ru-RU" sz="3600" dirty="0" smtClean="0"/>
              <a:t>ЭТАПЫ моделирования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Определение границ и целей моделирования</a:t>
            </a:r>
            <a:r>
              <a:rPr lang="ru-RU" sz="2400" dirty="0">
                <a:effectLst/>
              </a:rPr>
              <a:t> </a:t>
            </a:r>
            <a:endParaRPr lang="ru-RU" sz="2400" dirty="0" smtClean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 smtClean="0">
                <a:effectLst/>
              </a:rPr>
              <a:t>Сбор информации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Построение моделей по </a:t>
            </a:r>
            <a:r>
              <a:rPr lang="ru-RU" sz="2400" b="1" dirty="0" smtClean="0">
                <a:effectLst/>
              </a:rPr>
              <a:t>аспектам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Интеграция </a:t>
            </a:r>
            <a:r>
              <a:rPr lang="ru-RU" sz="2400" b="1" dirty="0" smtClean="0">
                <a:effectLst/>
              </a:rPr>
              <a:t>моделей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Анализ и </a:t>
            </a:r>
            <a:r>
              <a:rPr lang="ru-RU" sz="2400" b="1" dirty="0" smtClean="0">
                <a:effectLst/>
              </a:rPr>
              <a:t>оптимизация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Симуляция и </a:t>
            </a:r>
            <a:r>
              <a:rPr lang="ru-RU" sz="2400" b="1" dirty="0" err="1" smtClean="0">
                <a:effectLst/>
              </a:rPr>
              <a:t>валидация</a:t>
            </a:r>
            <a:endParaRPr lang="ru-RU" sz="2400" dirty="0" smtClean="0"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b="1" dirty="0" smtClean="0">
                <a:effectLst/>
              </a:rPr>
              <a:t>Внедрение изменений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94390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определение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effectLst/>
              </a:rPr>
              <a:t>Моделирование бизнес-процесса </a:t>
            </a:r>
            <a:r>
              <a:rPr lang="ru-RU" sz="3200" dirty="0" smtClean="0">
                <a:effectLst/>
              </a:rPr>
              <a:t>—</a:t>
            </a:r>
            <a:r>
              <a:rPr lang="ru-RU" sz="3200" b="1" dirty="0" smtClean="0">
                <a:effectLst/>
              </a:rPr>
              <a:t> </a:t>
            </a:r>
            <a:r>
              <a:rPr lang="ru-RU" sz="3200" dirty="0" smtClean="0">
                <a:effectLst/>
              </a:rPr>
              <a:t>это описание действия организации с целью анализа и улучшения.</a:t>
            </a:r>
          </a:p>
          <a:p>
            <a:r>
              <a:rPr lang="ru-RU" sz="3200" b="1" dirty="0" smtClean="0">
                <a:effectLst/>
              </a:rPr>
              <a:t>Основные компоненты: </a:t>
            </a:r>
            <a:r>
              <a:rPr lang="ru-RU" sz="3200" dirty="0" smtClean="0">
                <a:effectLst/>
              </a:rPr>
              <a:t>цель; объект; методика; правила построения; инструментарий.</a:t>
            </a:r>
          </a:p>
        </p:txBody>
      </p:sp>
    </p:spTree>
    <p:extLst>
      <p:ext uri="{BB962C8B-B14F-4D97-AF65-F5344CB8AC3E}">
        <p14:creationId xmlns:p14="http://schemas.microsoft.com/office/powerpoint/2010/main" val="244811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обзор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effectLst/>
              </a:rPr>
              <a:t>IDEF</a:t>
            </a:r>
            <a:r>
              <a:rPr lang="ru-RU" sz="3200" dirty="0">
                <a:effectLst/>
              </a:rPr>
              <a:t> — для строгого функционального </a:t>
            </a:r>
            <a:r>
              <a:rPr lang="ru-RU" sz="3200" dirty="0" smtClean="0">
                <a:effectLst/>
              </a:rPr>
              <a:t>описания</a:t>
            </a:r>
          </a:p>
          <a:p>
            <a:r>
              <a:rPr lang="ru-RU" sz="3200" b="1" dirty="0">
                <a:effectLst/>
              </a:rPr>
              <a:t>DFD</a:t>
            </a:r>
            <a:r>
              <a:rPr lang="ru-RU" sz="3200" dirty="0">
                <a:effectLst/>
              </a:rPr>
              <a:t> — для потоков </a:t>
            </a:r>
            <a:r>
              <a:rPr lang="ru-RU" sz="3200" dirty="0" smtClean="0">
                <a:effectLst/>
              </a:rPr>
              <a:t>данных</a:t>
            </a:r>
          </a:p>
          <a:p>
            <a:r>
              <a:rPr lang="ru-RU" sz="3200" b="1" dirty="0">
                <a:effectLst/>
              </a:rPr>
              <a:t>BPMN</a:t>
            </a:r>
            <a:r>
              <a:rPr lang="ru-RU" sz="3200" dirty="0">
                <a:effectLst/>
              </a:rPr>
              <a:t> — для исполнимых </a:t>
            </a:r>
            <a:r>
              <a:rPr lang="ru-RU" sz="3200" dirty="0" smtClean="0">
                <a:effectLst/>
              </a:rPr>
              <a:t>процессов</a:t>
            </a:r>
          </a:p>
          <a:p>
            <a:r>
              <a:rPr lang="ru-RU" sz="3200" b="1" dirty="0">
                <a:effectLst/>
              </a:rPr>
              <a:t>ARIS</a:t>
            </a:r>
            <a:r>
              <a:rPr lang="ru-RU" sz="3200" dirty="0">
                <a:effectLst/>
              </a:rPr>
              <a:t> — для комплексного </a:t>
            </a:r>
            <a:r>
              <a:rPr lang="ru-RU" sz="3200" dirty="0" smtClean="0">
                <a:effectLst/>
              </a:rPr>
              <a:t>анализа</a:t>
            </a:r>
            <a:endParaRPr lang="ru-RU" sz="3200" b="1" dirty="0" smtClean="0">
              <a:effectLst/>
            </a:endParaRPr>
          </a:p>
          <a:p>
            <a:r>
              <a:rPr lang="ru-RU" sz="3200" b="1" dirty="0" smtClean="0">
                <a:effectLst/>
              </a:rPr>
              <a:t>UML</a:t>
            </a:r>
            <a:r>
              <a:rPr lang="ru-RU" sz="3200" dirty="0" smtClean="0">
                <a:effectLst/>
              </a:rPr>
              <a:t> </a:t>
            </a:r>
            <a:r>
              <a:rPr lang="ru-RU" sz="3200" dirty="0">
                <a:effectLst/>
              </a:rPr>
              <a:t>— для разработки </a:t>
            </a:r>
            <a:r>
              <a:rPr lang="ru-RU" sz="3200" dirty="0" smtClean="0">
                <a:effectLst/>
              </a:rPr>
              <a:t>ПО</a:t>
            </a:r>
            <a:endParaRPr lang="ru-RU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328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семейство </a:t>
            </a:r>
            <a:r>
              <a:rPr lang="en-US" sz="3600" dirty="0" smtClean="0"/>
              <a:t>idef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effectLst/>
              </a:rPr>
              <a:t>Цель IDEF</a:t>
            </a:r>
            <a:r>
              <a:rPr lang="ru-RU" sz="3200" dirty="0" smtClean="0">
                <a:effectLst/>
              </a:rPr>
              <a:t> </a:t>
            </a:r>
            <a:r>
              <a:rPr lang="ru-RU" sz="3200" dirty="0">
                <a:effectLst/>
              </a:rPr>
              <a:t>— обеспечить </a:t>
            </a:r>
            <a:r>
              <a:rPr lang="ru-RU" sz="3200" dirty="0" smtClean="0">
                <a:effectLst/>
              </a:rPr>
              <a:t>единый </a:t>
            </a:r>
            <a:r>
              <a:rPr lang="ru-RU" sz="3200" dirty="0">
                <a:effectLst/>
              </a:rPr>
              <a:t>способ представления </a:t>
            </a:r>
            <a:r>
              <a:rPr lang="ru-RU" sz="3200" dirty="0" smtClean="0">
                <a:effectLst/>
              </a:rPr>
              <a:t>функций</a:t>
            </a:r>
            <a:endParaRPr lang="ru-RU" sz="3200" dirty="0">
              <a:effectLst/>
            </a:endParaRPr>
          </a:p>
          <a:p>
            <a:pPr lvl="0"/>
            <a:r>
              <a:rPr lang="ru-RU" sz="3200" b="1" dirty="0">
                <a:effectLst/>
              </a:rPr>
              <a:t>IDEF0</a:t>
            </a:r>
            <a:r>
              <a:rPr lang="ru-RU" sz="3200" dirty="0">
                <a:effectLst/>
              </a:rPr>
              <a:t> — функциональное </a:t>
            </a:r>
            <a:r>
              <a:rPr lang="ru-RU" sz="3200" dirty="0" smtClean="0">
                <a:effectLst/>
              </a:rPr>
              <a:t>моделирование</a:t>
            </a:r>
            <a:endParaRPr lang="ru-RU" sz="3200" dirty="0">
              <a:effectLst/>
            </a:endParaRPr>
          </a:p>
          <a:p>
            <a:pPr lvl="0"/>
            <a:r>
              <a:rPr lang="ru-RU" sz="3200" b="1" dirty="0">
                <a:effectLst/>
              </a:rPr>
              <a:t>IDEF3</a:t>
            </a:r>
            <a:r>
              <a:rPr lang="ru-RU" sz="3200" dirty="0">
                <a:effectLst/>
              </a:rPr>
              <a:t> — моделирование </a:t>
            </a:r>
            <a:r>
              <a:rPr lang="ru-RU" sz="3200" dirty="0" smtClean="0">
                <a:effectLst/>
              </a:rPr>
              <a:t>алгоритмов</a:t>
            </a:r>
            <a:endParaRPr lang="ru-RU" sz="3200" dirty="0">
              <a:effectLst/>
            </a:endParaRPr>
          </a:p>
          <a:p>
            <a:pPr lvl="0"/>
            <a:r>
              <a:rPr lang="ru-RU" sz="3200" b="1" dirty="0">
                <a:effectLst/>
              </a:rPr>
              <a:t>IDEF1X</a:t>
            </a:r>
            <a:r>
              <a:rPr lang="ru-RU" sz="3200" dirty="0">
                <a:effectLst/>
              </a:rPr>
              <a:t> — логическое моделирование данных</a:t>
            </a:r>
            <a:r>
              <a:rPr lang="ru-RU" sz="3200" dirty="0" smtClean="0">
                <a:effectLst/>
              </a:rPr>
              <a:t>.</a:t>
            </a:r>
            <a:endParaRPr lang="ru-RU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591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</a:t>
            </a:r>
            <a:r>
              <a:rPr lang="en-US" sz="3600" dirty="0" smtClean="0"/>
              <a:t>IDEF0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>
                <a:effectLst/>
              </a:rPr>
              <a:t>Вопрос: «Что делает система?»</a:t>
            </a:r>
            <a:endParaRPr lang="ru-RU" sz="2800" dirty="0">
              <a:effectLst/>
            </a:endParaRPr>
          </a:p>
          <a:p>
            <a:r>
              <a:rPr lang="ru-RU" sz="2800" dirty="0">
                <a:effectLst/>
              </a:rPr>
              <a:t>Четыре типа стрелок:</a:t>
            </a:r>
          </a:p>
          <a:p>
            <a:pPr lvl="1"/>
            <a:r>
              <a:rPr lang="ru-RU" sz="2400" dirty="0" smtClean="0">
                <a:effectLst/>
              </a:rPr>
              <a:t>вход</a:t>
            </a:r>
            <a:endParaRPr lang="ru-RU" sz="2400" dirty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управление</a:t>
            </a:r>
            <a:endParaRPr lang="ru-RU" sz="2400" dirty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механизм</a:t>
            </a:r>
            <a:endParaRPr lang="ru-RU" sz="2400" dirty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выход</a:t>
            </a:r>
            <a:endParaRPr lang="ru-RU" sz="2400" dirty="0">
              <a:effectLst/>
            </a:endParaRPr>
          </a:p>
          <a:p>
            <a:r>
              <a:rPr lang="ru-RU" sz="2800" dirty="0">
                <a:effectLst/>
              </a:rPr>
              <a:t>Иерархическая декомпозиция → от общего к </a:t>
            </a:r>
            <a:r>
              <a:rPr lang="ru-RU" sz="2800" dirty="0" smtClean="0">
                <a:effectLst/>
              </a:rPr>
              <a:t>деталям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9398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</a:t>
            </a:r>
            <a:r>
              <a:rPr lang="en-US" sz="3600" dirty="0" smtClean="0"/>
              <a:t>IDEF</a:t>
            </a:r>
            <a:r>
              <a:rPr lang="ru-RU" sz="3600" dirty="0" smtClean="0"/>
              <a:t>3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 smtClean="0">
                <a:effectLst/>
              </a:rPr>
              <a:t>Вопрос: «Как выполняется процесс?»</a:t>
            </a:r>
            <a:endParaRPr lang="ru-RU" sz="2400" dirty="0">
              <a:effectLst/>
            </a:endParaRPr>
          </a:p>
          <a:p>
            <a:r>
              <a:rPr lang="ru-RU" sz="2400" dirty="0">
                <a:effectLst/>
              </a:rPr>
              <a:t>Описывает реальные сценарии:</a:t>
            </a:r>
          </a:p>
          <a:p>
            <a:pPr lvl="1"/>
            <a:r>
              <a:rPr lang="ru-RU" sz="2400" dirty="0">
                <a:effectLst/>
              </a:rPr>
              <a:t>Единицы работы </a:t>
            </a:r>
            <a:endParaRPr lang="ru-RU" sz="2400" dirty="0" smtClean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Последовательности </a:t>
            </a:r>
            <a:r>
              <a:rPr lang="ru-RU" sz="2400" dirty="0">
                <a:effectLst/>
              </a:rPr>
              <a:t>и ветвления</a:t>
            </a:r>
          </a:p>
          <a:p>
            <a:pPr lvl="1"/>
            <a:r>
              <a:rPr lang="ru-RU" sz="2400" dirty="0">
                <a:effectLst/>
              </a:rPr>
              <a:t>Синхронизация </a:t>
            </a:r>
            <a:r>
              <a:rPr lang="ru-RU" sz="2400" dirty="0" smtClean="0">
                <a:effectLst/>
              </a:rPr>
              <a:t>(«И») и </a:t>
            </a:r>
            <a:r>
              <a:rPr lang="ru-RU" sz="2400" dirty="0">
                <a:effectLst/>
              </a:rPr>
              <a:t>альтернативы («ИЛИ»)</a:t>
            </a:r>
          </a:p>
          <a:p>
            <a:r>
              <a:rPr lang="ru-RU" sz="2400" dirty="0" smtClean="0">
                <a:effectLst/>
              </a:rPr>
              <a:t>анализ </a:t>
            </a:r>
            <a:r>
              <a:rPr lang="ru-RU" sz="2400" dirty="0">
                <a:effectLst/>
              </a:rPr>
              <a:t>исключений и ручных </a:t>
            </a:r>
            <a:r>
              <a:rPr lang="ru-RU" sz="2400" dirty="0" smtClean="0">
                <a:effectLst/>
              </a:rPr>
              <a:t>операций</a:t>
            </a:r>
            <a:endParaRPr lang="ru-RU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8726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85</TotalTime>
  <Words>494</Words>
  <Application>Microsoft Office PowerPoint</Application>
  <PresentationFormat>Широкоэкранный</PresentationFormat>
  <Paragraphs>80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Сетка</vt:lpstr>
      <vt:lpstr>Зачётная работа на тему «моделирование бизнес-процессов»</vt:lpstr>
      <vt:lpstr>1. UML: определение и назначение</vt:lpstr>
      <vt:lpstr>1. UML: Ключевые функции</vt:lpstr>
      <vt:lpstr>1. UML: визуализация</vt:lpstr>
      <vt:lpstr>1. UML: спецификация</vt:lpstr>
      <vt:lpstr>1. UML: конструирование</vt:lpstr>
      <vt:lpstr>1. UML: документирование</vt:lpstr>
      <vt:lpstr>2. ARIS: общая характеристика</vt:lpstr>
      <vt:lpstr>2. ARIS: основные аспекты</vt:lpstr>
      <vt:lpstr>2. ARIS: eEpc</vt:lpstr>
      <vt:lpstr>2. ARIS: ЭТАПЫ моделирования</vt:lpstr>
      <vt:lpstr>3. Методики моделирования: определение</vt:lpstr>
      <vt:lpstr>3. Методики моделирования: обзор</vt:lpstr>
      <vt:lpstr>3. Методики моделирования: семейство idef</vt:lpstr>
      <vt:lpstr>3. Методики моделирования: IDEF0</vt:lpstr>
      <vt:lpstr>3. Методики моделирования: IDEF3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Зачётная работа на тему «моделирование бизнес-процессов»</dc:title>
  <dc:creator>Учетная запись Майкрософт</dc:creator>
  <cp:lastModifiedBy>Учетная запись Майкрософт</cp:lastModifiedBy>
  <cp:revision>10</cp:revision>
  <dcterms:created xsi:type="dcterms:W3CDTF">2025-12-15T14:49:46Z</dcterms:created>
  <dcterms:modified xsi:type="dcterms:W3CDTF">2025-12-16T02:32:08Z</dcterms:modified>
</cp:coreProperties>
</file>
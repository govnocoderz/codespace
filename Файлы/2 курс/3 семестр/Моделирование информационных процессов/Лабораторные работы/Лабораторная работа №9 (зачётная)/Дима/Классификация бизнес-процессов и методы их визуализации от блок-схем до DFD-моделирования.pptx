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67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29FA325E-4FBD-42D2-8818-23159E59412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EE0985B-B57F-4584-B02D-43BCD56CB354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24334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325E-4FBD-42D2-8818-23159E59412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0985B-B57F-4584-B02D-43BCD56CB3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407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325E-4FBD-42D2-8818-23159E59412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0985B-B57F-4584-B02D-43BCD56CB354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73226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325E-4FBD-42D2-8818-23159E59412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0985B-B57F-4584-B02D-43BCD56CB3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145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325E-4FBD-42D2-8818-23159E59412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0985B-B57F-4584-B02D-43BCD56CB3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094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325E-4FBD-42D2-8818-23159E59412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0985B-B57F-4584-B02D-43BCD56CB3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817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325E-4FBD-42D2-8818-23159E59412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0985B-B57F-4584-B02D-43BCD56CB3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96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325E-4FBD-42D2-8818-23159E59412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0985B-B57F-4584-B02D-43BCD56CB3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327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325E-4FBD-42D2-8818-23159E59412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0985B-B57F-4584-B02D-43BCD56CB3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506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325E-4FBD-42D2-8818-23159E59412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0985B-B57F-4584-B02D-43BCD56CB3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337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325E-4FBD-42D2-8818-23159E59412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0985B-B57F-4584-B02D-43BCD56CB3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163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29FA325E-4FBD-42D2-8818-23159E59412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EE0985B-B57F-4584-B02D-43BCD56CB3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304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5EDF31-4A4B-B88A-FD1A-97F7443F62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6000" dirty="0">
                <a:latin typeface="Aptos Display" panose="020B0004020202020204" pitchFamily="34" charset="0"/>
              </a:rPr>
              <a:t>Классификация бизнес-процессов и методы их визуализации: от блок-схем до DFD-моделирования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3BA731-4B79-F9F1-13BE-3DCEF93F9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4189" y="5918931"/>
            <a:ext cx="6095035" cy="830525"/>
          </a:xfrm>
        </p:spPr>
        <p:txBody>
          <a:bodyPr>
            <a:normAutofit/>
          </a:bodyPr>
          <a:lstStyle/>
          <a:p>
            <a:pPr algn="r"/>
            <a:r>
              <a:rPr lang="ru-RU" sz="1600" dirty="0">
                <a:latin typeface="Aptos Narrow" panose="020B0004020202020204" pitchFamily="34" charset="0"/>
              </a:rPr>
              <a:t>Выполнил ст. гр. БПИ24-02 </a:t>
            </a:r>
            <a:r>
              <a:rPr lang="ru-RU" sz="1600" dirty="0" err="1">
                <a:latin typeface="Aptos Narrow" panose="020B0004020202020204" pitchFamily="34" charset="0"/>
              </a:rPr>
              <a:t>Пузынин</a:t>
            </a:r>
            <a:r>
              <a:rPr lang="ru-RU" sz="1600" dirty="0">
                <a:latin typeface="Aptos Narrow" panose="020B0004020202020204" pitchFamily="34" charset="0"/>
              </a:rPr>
              <a:t> Д.А.</a:t>
            </a:r>
          </a:p>
          <a:p>
            <a:pPr algn="r"/>
            <a:r>
              <a:rPr lang="ru-RU" sz="1600" dirty="0">
                <a:latin typeface="Aptos Narrow" panose="020B0004020202020204" pitchFamily="34" charset="0"/>
              </a:rPr>
              <a:t>Руководитель </a:t>
            </a:r>
            <a:r>
              <a:rPr lang="ru-RU" sz="1600" dirty="0" err="1">
                <a:latin typeface="Aptos Narrow" panose="020B0004020202020204" pitchFamily="34" charset="0"/>
              </a:rPr>
              <a:t>Кишкан</a:t>
            </a:r>
            <a:r>
              <a:rPr lang="ru-RU" sz="1600" dirty="0">
                <a:latin typeface="Aptos Narrow" panose="020B0004020202020204" pitchFamily="34" charset="0"/>
              </a:rPr>
              <a:t> В.В.</a:t>
            </a:r>
          </a:p>
          <a:p>
            <a:pPr algn="r"/>
            <a:endParaRPr lang="ru-RU" sz="1600" dirty="0">
              <a:latin typeface="Aptos Narrow" panose="020B0004020202020204" pitchFamily="34" charset="0"/>
            </a:endParaRPr>
          </a:p>
          <a:p>
            <a:pPr algn="r"/>
            <a:endParaRPr lang="ru-RU" sz="16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355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816F47-0E80-D3F4-B731-37E90C43C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1F581A-FDAE-5F0C-682D-0E31B851E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Цель работы</a:t>
            </a:r>
            <a:r>
              <a:rPr lang="en-US" b="1" dirty="0">
                <a:latin typeface="Aptos Narrow" panose="020B0004020202020204" pitchFamily="34" charset="0"/>
              </a:rPr>
              <a:t>: </a:t>
            </a:r>
            <a:r>
              <a:rPr lang="ru-RU" dirty="0">
                <a:latin typeface="Aptos Narrow" panose="020B0004020202020204" pitchFamily="34" charset="0"/>
              </a:rPr>
              <a:t>анализ методов описания деятельности организации и классификации бизнес процессов.</a:t>
            </a:r>
          </a:p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Задачи</a:t>
            </a:r>
            <a:r>
              <a:rPr lang="en-US" b="1" dirty="0">
                <a:latin typeface="Aptos Narrow" panose="020B0004020202020204" pitchFamily="34" charset="0"/>
              </a:rPr>
              <a:t>: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>
                <a:latin typeface="Aptos Narrow" panose="020B0004020202020204" pitchFamily="34" charset="0"/>
              </a:rPr>
              <a:t>Изучить подходы к классификации бизнес-процессов.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>
                <a:latin typeface="Aptos Narrow" panose="020B0004020202020204" pitchFamily="34" charset="0"/>
              </a:rPr>
              <a:t>рассмотреть методику построения блок-схем (</a:t>
            </a:r>
            <a:r>
              <a:rPr lang="en-US" dirty="0">
                <a:latin typeface="Aptos Narrow" panose="020B0004020202020204" pitchFamily="34" charset="0"/>
              </a:rPr>
              <a:t>Flow Chart).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>
                <a:latin typeface="Aptos Narrow" panose="020B0004020202020204" pitchFamily="34" charset="0"/>
              </a:rPr>
              <a:t>Проанализировать структурный анализ и </a:t>
            </a:r>
            <a:r>
              <a:rPr lang="en-US" dirty="0">
                <a:latin typeface="Aptos Narrow" panose="020B0004020202020204" pitchFamily="34" charset="0"/>
              </a:rPr>
              <a:t>DFD</a:t>
            </a:r>
            <a:r>
              <a:rPr lang="ru-RU" dirty="0">
                <a:latin typeface="Aptos Narrow" panose="020B0004020202020204" pitchFamily="34" charset="0"/>
              </a:rPr>
              <a:t>-моделирование</a:t>
            </a:r>
          </a:p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Актуальность</a:t>
            </a:r>
            <a:r>
              <a:rPr lang="en-US" b="1" dirty="0">
                <a:latin typeface="Aptos Narrow" panose="020B0004020202020204" pitchFamily="34" charset="0"/>
              </a:rPr>
              <a:t>:</a:t>
            </a:r>
            <a:r>
              <a:rPr lang="ru-RU" dirty="0">
                <a:latin typeface="Aptos Narrow" panose="020B0004020202020204" pitchFamily="34" charset="0"/>
              </a:rPr>
              <a:t> грамотное моделирование – обязательное условие для внедрения </a:t>
            </a:r>
            <a:r>
              <a:rPr lang="en-US" dirty="0">
                <a:latin typeface="Aptos Narrow" panose="020B0004020202020204" pitchFamily="34" charset="0"/>
              </a:rPr>
              <a:t>IT-</a:t>
            </a:r>
            <a:r>
              <a:rPr lang="ru-RU" dirty="0">
                <a:latin typeface="Aptos Narrow" panose="020B0004020202020204" pitchFamily="34" charset="0"/>
              </a:rPr>
              <a:t>систем, оптимизация затрат и прозрачного управления.</a:t>
            </a:r>
            <a:endParaRPr lang="ru-RU" b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654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FCD92-DE73-831A-6D87-0E4C63F0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Понятие бизнес-процесса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D20365-9C8D-684F-ADB3-0EE09925A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Бизнес-процесс</a:t>
            </a:r>
            <a:r>
              <a:rPr lang="ru-RU" dirty="0">
                <a:latin typeface="Aptos Narrow" panose="020B0004020202020204" pitchFamily="34" charset="0"/>
              </a:rPr>
              <a:t> – это устойчивая совокупность действий, преобразующая ресурсы в продукт, представляющий ценность для потребителя.</a:t>
            </a:r>
          </a:p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Ключевые элементы процесса</a:t>
            </a:r>
            <a:r>
              <a:rPr lang="en-US" b="1" dirty="0">
                <a:latin typeface="Aptos Narrow" panose="020B0004020202020204" pitchFamily="34" charset="0"/>
              </a:rPr>
              <a:t>:</a:t>
            </a:r>
            <a:endParaRPr lang="ru-RU" b="1" dirty="0">
              <a:latin typeface="Aptos Narrow" panose="020B0004020202020204" pitchFamily="34" charset="0"/>
            </a:endParaRPr>
          </a:p>
          <a:p>
            <a:pPr lvl="1"/>
            <a:r>
              <a:rPr lang="ru-RU" b="1" dirty="0">
                <a:latin typeface="Aptos Narrow" panose="020B0004020202020204" pitchFamily="34" charset="0"/>
              </a:rPr>
              <a:t>Вход</a:t>
            </a:r>
            <a:r>
              <a:rPr lang="en-US" b="1" dirty="0">
                <a:latin typeface="Aptos Narrow" panose="020B0004020202020204" pitchFamily="34" charset="0"/>
              </a:rPr>
              <a:t>:</a:t>
            </a:r>
            <a:r>
              <a:rPr lang="ru-RU" b="1" dirty="0">
                <a:latin typeface="Aptos Narrow" panose="020B0004020202020204" pitchFamily="34" charset="0"/>
              </a:rPr>
              <a:t> </a:t>
            </a:r>
            <a:r>
              <a:rPr lang="ru-RU" dirty="0">
                <a:latin typeface="Aptos Narrow" panose="020B0004020202020204" pitchFamily="34" charset="0"/>
              </a:rPr>
              <a:t>ресурсы, необходимые для старта</a:t>
            </a:r>
            <a:r>
              <a:rPr lang="en-US" dirty="0">
                <a:latin typeface="Aptos Narrow" panose="020B0004020202020204" pitchFamily="34" charset="0"/>
              </a:rPr>
              <a:t>.</a:t>
            </a:r>
          </a:p>
          <a:p>
            <a:pPr lvl="1"/>
            <a:r>
              <a:rPr lang="ru-RU" b="1" dirty="0">
                <a:latin typeface="Aptos Narrow" panose="020B0004020202020204" pitchFamily="34" charset="0"/>
              </a:rPr>
              <a:t>Выход</a:t>
            </a:r>
            <a:r>
              <a:rPr lang="en-US" b="1" dirty="0">
                <a:latin typeface="Aptos Narrow" panose="020B0004020202020204" pitchFamily="34" charset="0"/>
              </a:rPr>
              <a:t>:</a:t>
            </a:r>
            <a:r>
              <a:rPr lang="ru-RU" b="1" dirty="0">
                <a:latin typeface="Aptos Narrow" panose="020B0004020202020204" pitchFamily="34" charset="0"/>
              </a:rPr>
              <a:t> </a:t>
            </a:r>
            <a:r>
              <a:rPr lang="ru-RU" dirty="0">
                <a:latin typeface="Aptos Narrow" panose="020B0004020202020204" pitchFamily="34" charset="0"/>
              </a:rPr>
              <a:t>результат (продукт, услуга, документ).</a:t>
            </a:r>
          </a:p>
          <a:p>
            <a:pPr lvl="1"/>
            <a:r>
              <a:rPr lang="ru-RU" b="1" dirty="0">
                <a:latin typeface="Aptos Narrow" panose="020B0004020202020204" pitchFamily="34" charset="0"/>
              </a:rPr>
              <a:t>Управление</a:t>
            </a:r>
            <a:r>
              <a:rPr lang="en-US" b="1" dirty="0">
                <a:latin typeface="Aptos Narrow" panose="020B0004020202020204" pitchFamily="34" charset="0"/>
              </a:rPr>
              <a:t>:</a:t>
            </a:r>
            <a:r>
              <a:rPr lang="ru-RU" dirty="0">
                <a:latin typeface="Aptos Narrow" panose="020B0004020202020204" pitchFamily="34" charset="0"/>
              </a:rPr>
              <a:t> регламенты и правила.</a:t>
            </a:r>
          </a:p>
          <a:p>
            <a:pPr lvl="1"/>
            <a:r>
              <a:rPr lang="ru-RU" b="1" dirty="0">
                <a:latin typeface="Aptos Narrow" panose="020B0004020202020204" pitchFamily="34" charset="0"/>
              </a:rPr>
              <a:t>Механизмы</a:t>
            </a:r>
            <a:r>
              <a:rPr lang="en-US" b="1" dirty="0">
                <a:latin typeface="Aptos Narrow" panose="020B0004020202020204" pitchFamily="34" charset="0"/>
              </a:rPr>
              <a:t>:</a:t>
            </a:r>
            <a:r>
              <a:rPr lang="ru-RU" b="1" dirty="0">
                <a:latin typeface="Aptos Narrow" panose="020B0004020202020204" pitchFamily="34" charset="0"/>
              </a:rPr>
              <a:t> </a:t>
            </a:r>
            <a:r>
              <a:rPr lang="ru-RU" dirty="0">
                <a:latin typeface="Aptos Narrow" panose="020B0004020202020204" pitchFamily="34" charset="0"/>
              </a:rPr>
              <a:t>оборудование, ПО, персонал.</a:t>
            </a:r>
          </a:p>
        </p:txBody>
      </p:sp>
    </p:spTree>
    <p:extLst>
      <p:ext uri="{BB962C8B-B14F-4D97-AF65-F5344CB8AC3E}">
        <p14:creationId xmlns:p14="http://schemas.microsoft.com/office/powerpoint/2010/main" val="3227595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A93AD0-4722-9C09-7725-85C317EDD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Классификация процессов (по назначению)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F68519-7296-1179-1E9B-A2431672E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1. Основные процессы (Core):</a:t>
            </a:r>
            <a:endParaRPr lang="ru-RU" dirty="0">
              <a:latin typeface="Aptos Narrow" panose="020B00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>
                <a:latin typeface="Aptos Narrow" panose="020B0004020202020204" pitchFamily="34" charset="0"/>
              </a:rPr>
              <a:t>Создают ценность для внешнего клиента.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>
                <a:latin typeface="Aptos Narrow" panose="020B0004020202020204" pitchFamily="34" charset="0"/>
              </a:rPr>
              <a:t>Генерируют прибыль (Например: Производство, Продажи).</a:t>
            </a:r>
          </a:p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2. Обеспечивающие процессы (Support):</a:t>
            </a:r>
            <a:endParaRPr lang="ru-RU" dirty="0">
              <a:latin typeface="Aptos Narrow" panose="020B00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>
                <a:latin typeface="Aptos Narrow" panose="020B0004020202020204" pitchFamily="34" charset="0"/>
              </a:rPr>
              <a:t>Поддерживают инфраструктуру бизнеса.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>
                <a:latin typeface="Aptos Narrow" panose="020B0004020202020204" pitchFamily="34" charset="0"/>
              </a:rPr>
              <a:t>Клиент — внутренние сотрудники (Например: Бухгалтерия, IT, Кадры).</a:t>
            </a:r>
          </a:p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3. Процессы управления (Management):</a:t>
            </a:r>
            <a:endParaRPr lang="ru-RU" dirty="0">
              <a:latin typeface="Aptos Narrow" panose="020B00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>
                <a:latin typeface="Aptos Narrow" panose="020B0004020202020204" pitchFamily="34" charset="0"/>
              </a:rPr>
              <a:t>Целеполагание и контроль (Например: Стратегия, Бюджетирование).</a:t>
            </a:r>
          </a:p>
          <a:p>
            <a:endParaRPr lang="ru-RU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901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392D1F-7C49-7A1E-D6A3-C10B5220D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Другие виды классификаций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776EAD-1791-B418-57B4-06E51E980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По уровню детализации:</a:t>
            </a:r>
            <a:endParaRPr lang="ru-RU" dirty="0">
              <a:latin typeface="Aptos Narrow" panose="020B0004020202020204" pitchFamily="34" charset="0"/>
            </a:endParaRPr>
          </a:p>
          <a:p>
            <a:pPr lvl="1"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Макропроцессы:</a:t>
            </a:r>
            <a:r>
              <a:rPr lang="ru-RU" dirty="0">
                <a:latin typeface="Aptos Narrow" panose="020B0004020202020204" pitchFamily="34" charset="0"/>
              </a:rPr>
              <a:t> Деятельность направления целиком.</a:t>
            </a:r>
          </a:p>
          <a:p>
            <a:pPr lvl="1"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Подпроцессы:</a:t>
            </a:r>
            <a:r>
              <a:rPr lang="ru-RU" dirty="0">
                <a:latin typeface="Aptos Narrow" panose="020B0004020202020204" pitchFamily="34" charset="0"/>
              </a:rPr>
              <a:t> Составные части.</a:t>
            </a:r>
          </a:p>
          <a:p>
            <a:pPr lvl="1"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Операции:</a:t>
            </a:r>
            <a:r>
              <a:rPr lang="ru-RU" dirty="0">
                <a:latin typeface="Aptos Narrow" panose="020B0004020202020204" pitchFamily="34" charset="0"/>
              </a:rPr>
              <a:t> Элементарные действия сотрудников.</a:t>
            </a:r>
          </a:p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По взаимодействию со средой:</a:t>
            </a:r>
            <a:endParaRPr lang="ru-RU" dirty="0">
              <a:latin typeface="Aptos Narrow" panose="020B0004020202020204" pitchFamily="34" charset="0"/>
            </a:endParaRPr>
          </a:p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Внешние:</a:t>
            </a:r>
            <a:r>
              <a:rPr lang="ru-RU" dirty="0">
                <a:latin typeface="Aptos Narrow" panose="020B0004020202020204" pitchFamily="34" charset="0"/>
              </a:rPr>
              <a:t> Входы/выходы пересекают границы фирмы.</a:t>
            </a:r>
          </a:p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Внутренние:</a:t>
            </a:r>
            <a:r>
              <a:rPr lang="ru-RU" dirty="0">
                <a:latin typeface="Aptos Narrow" panose="020B0004020202020204" pitchFamily="34" charset="0"/>
              </a:rPr>
              <a:t> Реализуются внутри организации.</a:t>
            </a:r>
          </a:p>
          <a:p>
            <a:endParaRPr lang="ru-RU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502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45EFB6-CF9D-0FEE-C5BB-F64C095A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Жизненный цикл процесса (Модель PDCA)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F229F3-FB0B-6B13-57B8-7345A73F4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Aptos Narrow" panose="020B0004020202020204" pitchFamily="34" charset="0"/>
              </a:rPr>
              <a:t>Управление процессом циклично (Цикл Деминга):</a:t>
            </a:r>
          </a:p>
          <a:p>
            <a:pPr lvl="1"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Plan (Планирование):</a:t>
            </a:r>
            <a:r>
              <a:rPr lang="ru-RU" dirty="0">
                <a:latin typeface="Aptos Narrow" panose="020B0004020202020204" pitchFamily="34" charset="0"/>
              </a:rPr>
              <a:t> Проектирование архитектуры ("Как должно быть").</a:t>
            </a:r>
          </a:p>
          <a:p>
            <a:pPr lvl="1"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Do (Выполнение):</a:t>
            </a:r>
            <a:r>
              <a:rPr lang="ru-RU" dirty="0">
                <a:latin typeface="Aptos Narrow" panose="020B0004020202020204" pitchFamily="34" charset="0"/>
              </a:rPr>
              <a:t> Реализация по регламентам.</a:t>
            </a:r>
          </a:p>
          <a:p>
            <a:pPr lvl="1"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Check (Проверка):</a:t>
            </a:r>
            <a:r>
              <a:rPr lang="ru-RU" dirty="0">
                <a:latin typeface="Aptos Narrow" panose="020B0004020202020204" pitchFamily="34" charset="0"/>
              </a:rPr>
              <a:t> Контроль показателей (KPI) и поиск отклонений.</a:t>
            </a:r>
          </a:p>
          <a:p>
            <a:pPr lvl="1"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Act (Воздействие):</a:t>
            </a:r>
            <a:r>
              <a:rPr lang="ru-RU" dirty="0">
                <a:latin typeface="Aptos Narrow" panose="020B0004020202020204" pitchFamily="34" charset="0"/>
              </a:rPr>
              <a:t> Устранение ошибок и улучшение процесса.</a:t>
            </a:r>
          </a:p>
          <a:p>
            <a:pPr marL="0" indent="0">
              <a:buNone/>
            </a:pPr>
            <a:r>
              <a:rPr lang="ru-RU" i="1" dirty="0">
                <a:effectLst/>
                <a:latin typeface="Aptos Narrow" panose="020B0004020202020204" pitchFamily="34" charset="0"/>
              </a:rPr>
              <a:t>Разные этапы требуют разных нотаций (DFD для планирования, </a:t>
            </a:r>
            <a:r>
              <a:rPr lang="ru-RU" i="1" dirty="0" err="1">
                <a:effectLst/>
                <a:latin typeface="Aptos Narrow" panose="020B0004020202020204" pitchFamily="34" charset="0"/>
              </a:rPr>
              <a:t>Flow</a:t>
            </a:r>
            <a:r>
              <a:rPr lang="ru-RU" i="1" dirty="0">
                <a:effectLst/>
                <a:latin typeface="Aptos Narrow" panose="020B0004020202020204" pitchFamily="34" charset="0"/>
              </a:rPr>
              <a:t> </a:t>
            </a:r>
            <a:r>
              <a:rPr lang="ru-RU" i="1" dirty="0" err="1">
                <a:effectLst/>
                <a:latin typeface="Aptos Narrow" panose="020B0004020202020204" pitchFamily="34" charset="0"/>
              </a:rPr>
              <a:t>Chart</a:t>
            </a:r>
            <a:r>
              <a:rPr lang="ru-RU" i="1" dirty="0">
                <a:effectLst/>
                <a:latin typeface="Aptos Narrow" panose="020B0004020202020204" pitchFamily="34" charset="0"/>
              </a:rPr>
              <a:t> для выполнения).</a:t>
            </a:r>
            <a:endParaRPr lang="ru-RU" dirty="0">
              <a:latin typeface="Aptos Narrow" panose="020B00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7989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B00DE1-FDB2-842B-0ABD-B03ABC71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Методика Блок-схем (</a:t>
            </a:r>
            <a:r>
              <a:rPr lang="en-US" dirty="0">
                <a:latin typeface="Aptos Display" panose="020B0004020202020204" pitchFamily="34" charset="0"/>
              </a:rPr>
              <a:t>Flow Chart)</a:t>
            </a:r>
            <a:endParaRPr lang="ru-RU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33ED32-691F-D6E3-41E7-0C93BC138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Назначение:</a:t>
            </a:r>
          </a:p>
          <a:p>
            <a:pPr lvl="1"/>
            <a:r>
              <a:rPr lang="ru-RU" dirty="0">
                <a:latin typeface="Aptos Narrow" panose="020B0004020202020204" pitchFamily="34" charset="0"/>
              </a:rPr>
              <a:t>Графическое описание алгоритмов и временной последовательности действий.</a:t>
            </a:r>
          </a:p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Стандарт:</a:t>
            </a:r>
          </a:p>
          <a:p>
            <a:pPr lvl="1"/>
            <a:r>
              <a:rPr lang="ru-RU" dirty="0">
                <a:latin typeface="Aptos Narrow" panose="020B0004020202020204" pitchFamily="34" charset="0"/>
              </a:rPr>
              <a:t>ГОСТ 19.701-90 (Схемы алгоритмов, программ, данных и систем).</a:t>
            </a:r>
          </a:p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Область применения:</a:t>
            </a:r>
            <a:endParaRPr lang="ru-RU" dirty="0">
              <a:latin typeface="Aptos Narrow" panose="020B00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>
                <a:latin typeface="Aptos Narrow" panose="020B0004020202020204" pitchFamily="34" charset="0"/>
              </a:rPr>
              <a:t>Должностные инструкции.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>
                <a:latin typeface="Aptos Narrow" panose="020B0004020202020204" pitchFamily="34" charset="0"/>
              </a:rPr>
              <a:t>Регламенты работ нижнего уровня.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>
                <a:latin typeface="Aptos Narrow" panose="020B0004020202020204" pitchFamily="34" charset="0"/>
              </a:rPr>
              <a:t>Описание логики ПО.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749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42D6B-5AC4-5051-18A9-C3C514B92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Aptos Display" panose="020B0004020202020204" pitchFamily="34" charset="0"/>
              </a:rPr>
              <a:t>Основные элементы блок-схемы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E4DA213-CD20-1006-E86B-147026D4E4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749" y="1828800"/>
            <a:ext cx="5315353" cy="4351338"/>
          </a:xfrm>
        </p:spPr>
      </p:pic>
    </p:spTree>
    <p:extLst>
      <p:ext uri="{BB962C8B-B14F-4D97-AF65-F5344CB8AC3E}">
        <p14:creationId xmlns:p14="http://schemas.microsoft.com/office/powerpoint/2010/main" val="641681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71C41-D118-1CCD-A5FF-33A5899C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Aptos Display" panose="020B0004020202020204" pitchFamily="34" charset="0"/>
              </a:rPr>
              <a:t>Типичные ошибки при создании блок-схем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58BA9D-D8ED-8DD9-A68A-515522D8B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Смешение уровней абстракции:</a:t>
            </a:r>
            <a:br>
              <a:rPr lang="ru-RU" dirty="0">
                <a:latin typeface="Aptos Narrow" panose="020B0004020202020204" pitchFamily="34" charset="0"/>
              </a:rPr>
            </a:br>
            <a:r>
              <a:rPr lang="ru-RU" dirty="0">
                <a:latin typeface="Aptos Narrow" panose="020B0004020202020204" pitchFamily="34" charset="0"/>
              </a:rPr>
              <a:t>Детализация глобальных этапов и мелких кликов мышкой на одной схеме.</a:t>
            </a:r>
          </a:p>
          <a:p>
            <a:pPr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Эффект «спагетти»:</a:t>
            </a:r>
            <a:br>
              <a:rPr lang="ru-RU" dirty="0">
                <a:latin typeface="Aptos Narrow" panose="020B0004020202020204" pitchFamily="34" charset="0"/>
              </a:rPr>
            </a:br>
            <a:r>
              <a:rPr lang="ru-RU" dirty="0">
                <a:latin typeface="Aptos Narrow" panose="020B0004020202020204" pitchFamily="34" charset="0"/>
              </a:rPr>
              <a:t>Запутанные линии, множество пересечений, сложная навигация.</a:t>
            </a:r>
          </a:p>
          <a:p>
            <a:pPr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Тупиковые ветви:</a:t>
            </a:r>
            <a:br>
              <a:rPr lang="ru-RU" dirty="0">
                <a:latin typeface="Aptos Narrow" panose="020B0004020202020204" pitchFamily="34" charset="0"/>
              </a:rPr>
            </a:br>
            <a:r>
              <a:rPr lang="ru-RU" dirty="0">
                <a:latin typeface="Aptos Narrow" panose="020B0004020202020204" pitchFamily="34" charset="0"/>
              </a:rPr>
              <a:t>Алгоритмы, не ведущие к терминатору «Конец».</a:t>
            </a:r>
          </a:p>
          <a:p>
            <a:pPr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Отсутствие ответственных:</a:t>
            </a:r>
            <a:br>
              <a:rPr lang="ru-RU" dirty="0">
                <a:latin typeface="Aptos Narrow" panose="020B0004020202020204" pitchFamily="34" charset="0"/>
              </a:rPr>
            </a:br>
            <a:r>
              <a:rPr lang="ru-RU" dirty="0">
                <a:latin typeface="Aptos Narrow" panose="020B0004020202020204" pitchFamily="34" charset="0"/>
              </a:rPr>
              <a:t>Непонятно, кто выполняет действие (если не используются "дорожки").</a:t>
            </a:r>
          </a:p>
          <a:p>
            <a:pPr marL="0" indent="0">
              <a:buNone/>
            </a:pPr>
            <a:endParaRPr lang="ru-RU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026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4C5AC0-C07B-2BD5-CCEA-F15403D8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Метод моделирования </a:t>
            </a:r>
            <a:r>
              <a:rPr lang="en-US" dirty="0">
                <a:latin typeface="Aptos Display" panose="020B0004020202020204" pitchFamily="34" charset="0"/>
              </a:rPr>
              <a:t>DFD</a:t>
            </a:r>
            <a:endParaRPr lang="ru-RU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9A3C0E-62D8-9F01-2398-36991FA0E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Data </a:t>
            </a:r>
            <a:r>
              <a:rPr lang="ru-RU" b="1" dirty="0" err="1">
                <a:latin typeface="Aptos Narrow" panose="020B0004020202020204" pitchFamily="34" charset="0"/>
              </a:rPr>
              <a:t>Flow</a:t>
            </a:r>
            <a:r>
              <a:rPr lang="ru-RU" b="1" dirty="0">
                <a:latin typeface="Aptos Narrow" panose="020B0004020202020204" pitchFamily="34" charset="0"/>
              </a:rPr>
              <a:t> </a:t>
            </a:r>
            <a:r>
              <a:rPr lang="ru-RU" b="1" dirty="0" err="1">
                <a:latin typeface="Aptos Narrow" panose="020B0004020202020204" pitchFamily="34" charset="0"/>
              </a:rPr>
              <a:t>Diagrams</a:t>
            </a:r>
            <a:r>
              <a:rPr lang="ru-RU" b="1" dirty="0">
                <a:latin typeface="Aptos Narrow" panose="020B0004020202020204" pitchFamily="34" charset="0"/>
              </a:rPr>
              <a:t> (Диаграммы потоков данных)</a:t>
            </a:r>
            <a:endParaRPr lang="ru-RU" dirty="0">
              <a:latin typeface="Aptos Narrow" panose="020B0004020202020204" pitchFamily="34" charset="0"/>
            </a:endParaRPr>
          </a:p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Назначение:</a:t>
            </a:r>
          </a:p>
          <a:p>
            <a:pPr marL="274320" lvl="1" indent="0">
              <a:buNone/>
            </a:pPr>
            <a:r>
              <a:rPr lang="ru-RU" dirty="0">
                <a:latin typeface="Aptos Narrow" panose="020B0004020202020204" pitchFamily="34" charset="0"/>
              </a:rPr>
              <a:t>Описание движения информации от источников к получателям. Не показывает временную последовательность!</a:t>
            </a:r>
          </a:p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Основные компоненты:</a:t>
            </a:r>
            <a:endParaRPr lang="ru-RU" dirty="0">
              <a:latin typeface="Aptos Narrow" panose="020B0004020202020204" pitchFamily="34" charset="0"/>
            </a:endParaRPr>
          </a:p>
          <a:p>
            <a:pPr lvl="1"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Процесс (Функция):</a:t>
            </a:r>
            <a:r>
              <a:rPr lang="ru-RU" dirty="0">
                <a:latin typeface="Aptos Narrow" panose="020B0004020202020204" pitchFamily="34" charset="0"/>
              </a:rPr>
              <a:t> Преобразует данные.</a:t>
            </a:r>
          </a:p>
          <a:p>
            <a:pPr lvl="1"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Поток данных (Стрелка):</a:t>
            </a:r>
            <a:r>
              <a:rPr lang="ru-RU" dirty="0">
                <a:latin typeface="Aptos Narrow" panose="020B0004020202020204" pitchFamily="34" charset="0"/>
              </a:rPr>
              <a:t> Канал передачи информации.</a:t>
            </a:r>
          </a:p>
          <a:p>
            <a:pPr lvl="1"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Хранилище:</a:t>
            </a:r>
            <a:r>
              <a:rPr lang="ru-RU" dirty="0">
                <a:latin typeface="Aptos Narrow" panose="020B0004020202020204" pitchFamily="34" charset="0"/>
              </a:rPr>
              <a:t> БД, файл, архив.</a:t>
            </a:r>
          </a:p>
          <a:p>
            <a:pPr lvl="1"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Внешняя сущность:</a:t>
            </a:r>
            <a:r>
              <a:rPr lang="ru-RU" dirty="0">
                <a:latin typeface="Aptos Narrow" panose="020B0004020202020204" pitchFamily="34" charset="0"/>
              </a:rPr>
              <a:t> Клиент, партнер, внешняя система.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6536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8FD8FB-09BA-DFC9-1F5A-6AB811D5D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Иерархия диаграмм </a:t>
            </a:r>
            <a:r>
              <a:rPr lang="en-US" dirty="0">
                <a:latin typeface="Aptos Display" panose="020B0004020202020204" pitchFamily="34" charset="0"/>
              </a:rPr>
              <a:t>DFD</a:t>
            </a:r>
            <a:endParaRPr lang="ru-RU" dirty="0">
              <a:latin typeface="Aptos Display" panose="020B0004020202020204" pitchFamily="34" charset="0"/>
            </a:endParaRP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45934F5D-F72F-04E0-BDFC-D71190D94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3560108" cy="4351337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Принцип «Черного ящика»:</a:t>
            </a:r>
            <a:endParaRPr lang="ru-RU" dirty="0">
              <a:latin typeface="Aptos Narrow" panose="020B00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dirty="0">
                <a:latin typeface="Aptos Narrow" panose="020B0004020202020204" pitchFamily="34" charset="0"/>
              </a:rPr>
              <a:t>Контекстная диаграмма (Верх):</a:t>
            </a:r>
            <a:r>
              <a:rPr lang="ru-RU" dirty="0">
                <a:latin typeface="Aptos Narrow" panose="020B0004020202020204" pitchFamily="34" charset="0"/>
              </a:rPr>
              <a:t> Вся система как один процесс.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dirty="0">
                <a:latin typeface="Aptos Narrow" panose="020B0004020202020204" pitchFamily="34" charset="0"/>
              </a:rPr>
              <a:t>Декомпозиция (Низ):</a:t>
            </a:r>
            <a:r>
              <a:rPr lang="ru-RU" dirty="0">
                <a:latin typeface="Aptos Narrow" panose="020B0004020202020204" pitchFamily="34" charset="0"/>
              </a:rPr>
              <a:t> Раскрытие внутренней структуры процесса.</a:t>
            </a:r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12D682-2070-D7FF-6E72-0C3228ADA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529" y="1982606"/>
            <a:ext cx="458152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91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DD3508-1712-2341-BABE-1D23B3511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Aptos Display" panose="020B0004020202020204" pitchFamily="34" charset="0"/>
              </a:rPr>
              <a:t>Правила структурного анализа </a:t>
            </a:r>
            <a:r>
              <a:rPr lang="en-US" dirty="0">
                <a:latin typeface="Aptos Display" panose="020B0004020202020204" pitchFamily="34" charset="0"/>
              </a:rPr>
              <a:t>DFD</a:t>
            </a:r>
            <a:endParaRPr lang="ru-RU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5F7737-CB23-61EF-08C7-F02E1A0AF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Балансировка потоков:</a:t>
            </a:r>
            <a:br>
              <a:rPr lang="ru-RU" dirty="0">
                <a:latin typeface="Aptos Narrow" panose="020B0004020202020204" pitchFamily="34" charset="0"/>
              </a:rPr>
            </a:br>
            <a:r>
              <a:rPr lang="ru-RU" dirty="0">
                <a:latin typeface="Aptos Narrow" panose="020B0004020202020204" pitchFamily="34" charset="0"/>
              </a:rPr>
              <a:t>Входящие/исходящие данные родительского процесса должны совпадать с дочерней диаграммой.</a:t>
            </a:r>
          </a:p>
          <a:p>
            <a:pPr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Нумерация:</a:t>
            </a:r>
            <a:br>
              <a:rPr lang="ru-RU" dirty="0">
                <a:latin typeface="Aptos Narrow" panose="020B0004020202020204" pitchFamily="34" charset="0"/>
              </a:rPr>
            </a:br>
            <a:r>
              <a:rPr lang="ru-RU" dirty="0">
                <a:latin typeface="Aptos Narrow" panose="020B0004020202020204" pitchFamily="34" charset="0"/>
              </a:rPr>
              <a:t>Строгая иерархия (Процесс 1 -&gt; Подпроцессы 1.1, 1.2).</a:t>
            </a:r>
          </a:p>
          <a:p>
            <a:pPr>
              <a:buFont typeface="+mj-lt"/>
              <a:buAutoNum type="arabicPeriod"/>
            </a:pPr>
            <a:r>
              <a:rPr lang="ru-RU" b="1" dirty="0">
                <a:latin typeface="Aptos Narrow" panose="020B0004020202020204" pitchFamily="34" charset="0"/>
              </a:rPr>
              <a:t>Ограничение сложности:</a:t>
            </a:r>
            <a:br>
              <a:rPr lang="ru-RU" dirty="0">
                <a:latin typeface="Aptos Narrow" panose="020B0004020202020204" pitchFamily="34" charset="0"/>
              </a:rPr>
            </a:br>
            <a:r>
              <a:rPr lang="ru-RU" dirty="0">
                <a:latin typeface="Aptos Narrow" panose="020B0004020202020204" pitchFamily="34" charset="0"/>
              </a:rPr>
              <a:t>Рекомендуется размещать 3-7 процессов на одной диаграмме для читаемости.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0025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F572AD-4A22-8E3C-4ED7-2B25E5D0F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Aptos Display" panose="020B0004020202020204" pitchFamily="34" charset="0"/>
              </a:rPr>
              <a:t>Логическая и Физическая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BFEF90-F5D0-49A1-6301-BDE5FD55B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Логическая модель DFD:</a:t>
            </a:r>
            <a:endParaRPr lang="ru-RU" dirty="0">
              <a:latin typeface="Aptos Narrow" panose="020B00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>
                <a:latin typeface="Aptos Narrow" panose="020B0004020202020204" pitchFamily="34" charset="0"/>
              </a:rPr>
              <a:t>Отвечает на вопрос </a:t>
            </a:r>
            <a:r>
              <a:rPr lang="ru-RU" b="1" dirty="0">
                <a:latin typeface="Aptos Narrow" panose="020B0004020202020204" pitchFamily="34" charset="0"/>
              </a:rPr>
              <a:t>«ЧТО делает система?»</a:t>
            </a:r>
            <a:r>
              <a:rPr lang="ru-RU" dirty="0">
                <a:latin typeface="Aptos Narrow" panose="020B0004020202020204" pitchFamily="34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>
                <a:latin typeface="Aptos Narrow" panose="020B0004020202020204" pitchFamily="34" charset="0"/>
              </a:rPr>
              <a:t>Оперирует бизнес-сущностями (Заказ, Клиент).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>
                <a:latin typeface="Aptos Narrow" panose="020B0004020202020204" pitchFamily="34" charset="0"/>
              </a:rPr>
              <a:t>Понятна заказчику.</a:t>
            </a:r>
          </a:p>
          <a:p>
            <a:pPr marL="0" indent="0">
              <a:buNone/>
            </a:pPr>
            <a:r>
              <a:rPr lang="ru-RU" b="1" dirty="0">
                <a:latin typeface="Aptos Narrow" panose="020B0004020202020204" pitchFamily="34" charset="0"/>
              </a:rPr>
              <a:t>Физическая модель DFD:</a:t>
            </a:r>
            <a:endParaRPr lang="ru-RU" dirty="0">
              <a:latin typeface="Aptos Narrow" panose="020B00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>
                <a:latin typeface="Aptos Narrow" panose="020B0004020202020204" pitchFamily="34" charset="0"/>
              </a:rPr>
              <a:t>Отвечает на вопрос </a:t>
            </a:r>
            <a:r>
              <a:rPr lang="ru-RU" b="1" dirty="0">
                <a:latin typeface="Aptos Narrow" panose="020B0004020202020204" pitchFamily="34" charset="0"/>
              </a:rPr>
              <a:t>«КАК система это делает?»</a:t>
            </a:r>
            <a:r>
              <a:rPr lang="ru-RU" dirty="0">
                <a:latin typeface="Aptos Narrow" panose="020B0004020202020204" pitchFamily="34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>
                <a:latin typeface="Aptos Narrow" panose="020B0004020202020204" pitchFamily="34" charset="0"/>
              </a:rPr>
              <a:t>Оперирует техническими терминами (Таблица SQL, XML-файл).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>
                <a:latin typeface="Aptos Narrow" panose="020B0004020202020204" pitchFamily="34" charset="0"/>
              </a:rPr>
              <a:t>Нужна разработчикам.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5589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24F000-81D8-DC16-979B-158F787AD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методов </a:t>
            </a:r>
            <a:r>
              <a:rPr lang="ru-RU" dirty="0" err="1"/>
              <a:t>Flow</a:t>
            </a:r>
            <a:r>
              <a:rPr lang="ru-RU" dirty="0"/>
              <a:t> </a:t>
            </a:r>
            <a:r>
              <a:rPr lang="ru-RU" dirty="0" err="1"/>
              <a:t>Chart</a:t>
            </a:r>
            <a:r>
              <a:rPr lang="ru-RU" dirty="0"/>
              <a:t> и DFD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22E13596-0F21-C754-9CBB-23B3F787AA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9063641"/>
              </p:ext>
            </p:extLst>
          </p:nvPr>
        </p:nvGraphicFramePr>
        <p:xfrm>
          <a:off x="1262063" y="1828800"/>
          <a:ext cx="9316032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3939">
                  <a:extLst>
                    <a:ext uri="{9D8B030D-6E8A-4147-A177-3AD203B41FA5}">
                      <a16:colId xmlns:a16="http://schemas.microsoft.com/office/drawing/2014/main" val="4020417193"/>
                    </a:ext>
                  </a:extLst>
                </a:gridCol>
                <a:gridCol w="4111432">
                  <a:extLst>
                    <a:ext uri="{9D8B030D-6E8A-4147-A177-3AD203B41FA5}">
                      <a16:colId xmlns:a16="http://schemas.microsoft.com/office/drawing/2014/main" val="1200083538"/>
                    </a:ext>
                  </a:extLst>
                </a:gridCol>
                <a:gridCol w="2850661">
                  <a:extLst>
                    <a:ext uri="{9D8B030D-6E8A-4147-A177-3AD203B41FA5}">
                      <a16:colId xmlns:a16="http://schemas.microsoft.com/office/drawing/2014/main" val="29283742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Aptos Narrow" panose="020B0004020202020204" pitchFamily="34" charset="0"/>
                        </a:rPr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ptos Narrow" panose="020B0004020202020204" pitchFamily="34" charset="0"/>
                        </a:rPr>
                        <a:t>Flow Chart (</a:t>
                      </a:r>
                      <a:r>
                        <a:rPr lang="ru-RU" dirty="0">
                          <a:latin typeface="Aptos Narrow" panose="020B0004020202020204" pitchFamily="34" charset="0"/>
                        </a:rPr>
                        <a:t>Блок-схемы)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ptos Narrow" panose="020B0004020202020204" pitchFamily="34" charset="0"/>
                        </a:rPr>
                        <a:t>DFD</a:t>
                      </a:r>
                      <a:r>
                        <a:rPr lang="ru-RU" dirty="0">
                          <a:latin typeface="Aptos Narrow" panose="020B0004020202020204" pitchFamily="34" charset="0"/>
                        </a:rPr>
                        <a:t> (Потоки данных)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47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Aptos Narrow" panose="020B0004020202020204" pitchFamily="34" charset="0"/>
                        </a:rPr>
                        <a:t>Фокус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ptos Narrow" panose="020B0004020202020204" pitchFamily="34" charset="0"/>
                        </a:rPr>
                        <a:t>Последовательность действий (время)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ptos Narrow" panose="020B0004020202020204" pitchFamily="34" charset="0"/>
                        </a:rPr>
                        <a:t>Движение информации (Данные)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61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Aptos Narrow" panose="020B0004020202020204" pitchFamily="34" charset="0"/>
                        </a:rPr>
                        <a:t>Логика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ptos Narrow" panose="020B0004020202020204" pitchFamily="34" charset="0"/>
                        </a:rPr>
                        <a:t>Управляющая (Если-То)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ptos Narrow" panose="020B0004020202020204" pitchFamily="34" charset="0"/>
                        </a:rPr>
                        <a:t>Информационная (Вход-Выход)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470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Aptos Narrow" panose="020B0004020202020204" pitchFamily="34" charset="0"/>
                        </a:rPr>
                        <a:t>Для кого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ptos Narrow" panose="020B0004020202020204" pitchFamily="34" charset="0"/>
                        </a:rPr>
                        <a:t>Пользователи, сотрудники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ptos Narrow" panose="020B0004020202020204" pitchFamily="34" charset="0"/>
                        </a:rPr>
                        <a:t>Аналитики, архитекторы ПО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86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Aptos Narrow" panose="020B0004020202020204" pitchFamily="34" charset="0"/>
                        </a:rPr>
                        <a:t>Результат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ptos Narrow" panose="020B0004020202020204" pitchFamily="34" charset="0"/>
                        </a:rPr>
                        <a:t>Инструкция, регламент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ptos Narrow" panose="020B0004020202020204" pitchFamily="34" charset="0"/>
                        </a:rPr>
                        <a:t>ТЗ на разработку системы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345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4432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0488EB-4AA6-231A-60C7-FA5EF271C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A766A0-4C2C-A4E2-FF4F-A7EBAB24E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ru-RU" b="1" dirty="0"/>
              <a:t>Классификация процессов</a:t>
            </a:r>
            <a:r>
              <a:rPr lang="ru-RU" dirty="0"/>
              <a:t> позволяет выделить приоритеты для автоматизации и определить владельцев процессов.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Блок-схемы</a:t>
            </a:r>
            <a:r>
              <a:rPr lang="ru-RU" dirty="0"/>
              <a:t> остаются лучшим инструментом для описания простых алгоритмов работы персонала.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DFD-моделирование</a:t>
            </a:r>
            <a:r>
              <a:rPr lang="ru-RU" dirty="0"/>
              <a:t> необходимо для глубокого анализа информационных систем и проектирования баз данных.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Комплексный подход:</a:t>
            </a:r>
            <a:r>
              <a:rPr lang="ru-RU" dirty="0"/>
              <a:t> Эффективный аналитик использует комбинацию методов в зависимости от стадии жизненного цикла процесса (PDCA).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6388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1DD41-63B2-C706-0326-22846DA94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625" y="3135926"/>
            <a:ext cx="6046749" cy="586148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Aptos Display" panose="020B0004020202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97237167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66</TotalTime>
  <Words>735</Words>
  <Application>Microsoft Office PowerPoint</Application>
  <PresentationFormat>Широкоэкранный</PresentationFormat>
  <Paragraphs>104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Aptos Display</vt:lpstr>
      <vt:lpstr>Aptos Narrow</vt:lpstr>
      <vt:lpstr>Arial</vt:lpstr>
      <vt:lpstr>Century Schoolbook</vt:lpstr>
      <vt:lpstr>Wingdings 2</vt:lpstr>
      <vt:lpstr>Вид</vt:lpstr>
      <vt:lpstr>Классификация бизнес-процессов и методы их визуализации: от блок-схем до DFD-моделирования</vt:lpstr>
      <vt:lpstr>Введение</vt:lpstr>
      <vt:lpstr>Понятие бизнес-процесса</vt:lpstr>
      <vt:lpstr>Классификация процессов (по назначению)</vt:lpstr>
      <vt:lpstr>Другие виды классификаций</vt:lpstr>
      <vt:lpstr>Жизненный цикл процесса (Модель PDCA)</vt:lpstr>
      <vt:lpstr>Методика Блок-схем (Flow Chart)</vt:lpstr>
      <vt:lpstr>Основные элементы блок-схемы</vt:lpstr>
      <vt:lpstr>Типичные ошибки при создании блок-схем</vt:lpstr>
      <vt:lpstr>Метод моделирования DFD</vt:lpstr>
      <vt:lpstr>Иерархия диаграмм DFD</vt:lpstr>
      <vt:lpstr>Правила структурного анализа DFD</vt:lpstr>
      <vt:lpstr>Логическая и Физическая модели</vt:lpstr>
      <vt:lpstr>Сравнение методов Flow Chart и DFD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2025-12-01T12:38:40Z</dcterms:created>
  <dcterms:modified xsi:type="dcterms:W3CDTF">2025-12-01T13:46:46Z</dcterms:modified>
</cp:coreProperties>
</file>